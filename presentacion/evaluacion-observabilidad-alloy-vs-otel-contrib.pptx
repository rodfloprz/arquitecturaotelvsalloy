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1.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men" id="{faeef6bd-7661-5afa-af42-065bb1b8f990}">
          <p14:sldIdLst>
            <p14:sldId id="256"/>
            <p14:sldId id="257"/>
            <p14:sldId id="258"/>
          </p14:sldIdLst>
        </p14:section>
        <p14:section name="Arquitectura" id="{acf93322-b022-a1f8-6802-2fc7c5e7fbd4}">
          <p14:sldIdLst>
            <p14:sldId id="259"/>
            <p14:sldId id="260"/>
            <p14:sldId id="261"/>
          </p14:sldIdLst>
        </p14:section>
        <p14:section name="Métricas y aplicaciones" id="{48a82351-3f1a-3390-37b8-cabab516f851}">
          <p14:sldIdLst>
            <p14:sldId id="262"/>
            <p14:sldId id="263"/>
            <p14:sldId id="264"/>
          </p14:sldIdLst>
        </p14:section>
        <p14:section name="Trazas y span metrics" id="{aaf4d800-02b4-e522-6266-c242020623f8}">
          <p14:sldIdLst>
            <p14:sldId id="265"/>
            <p14:sldId id="266"/>
            <p14:sldId id="267"/>
          </p14:sldIdLst>
        </p14:section>
        <p14:section name="Plataforma y operación" id="{bf5ea9ac-2cd3-86f1-a67a-0db3f136cf70}">
          <p14:sldIdLst>
            <p14:sldId id="268"/>
            <p14:sldId id="269"/>
            <p14:sldId id="270"/>
            <p14:sldId id="271"/>
            <p14:sldId id="272"/>
            <p14:sldId id="273"/>
          </p14:sldIdLst>
        </p14:section>
        <p14:section name="Decisión" id="{1c8fbfad-0951-2888-481d-a7f46f587e24}">
          <p14:sldIdLst>
            <p14:sldId id="274"/>
            <p14:sldId id="275"/>
            <p14:sldId id="276"/>
            <p14:sldId id="277"/>
            <p14:sldId id="278"/>
            <p14:sldId id="279"/>
            <p14:sldId id="280"/>
          </p14:sldIdLst>
        </p14:section>
        <p14:section name="Cierre" id="{ca9a85c8-9702-0d75-14ce-e7b4e62c6554}">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D"/>
                </a:solidFill>
                <a:latin typeface="+mn-lt"/>
              </a:defRPr>
            </a:pPr>
            <a:r>
              <a:rPr sz="1400" b="0" i="0" u="none" strike="noStrike">
                <a:solidFill>
                  <a:srgbClr val="16202D"/>
                </a:solidFill>
                <a:latin typeface="+mn-lt"/>
              </a:rPr>
              <a:t>Complejidad operativa promedio (1 a 5)</a:t>
            </a:r>
          </a:p>
        </c:rich>
      </c:tx>
      <c:layout/>
      <c:overlay val="0"/>
    </c:title>
    <c:autoTitleDeleted val="0"/>
    <c:plotArea>
      <c:layout/>
      <c:barChart>
        <c:barDir val="bar"/>
        <c:grouping val="clustered"/>
        <c:varyColors val="0"/>
        <c:ser>
          <c:idx val="0"/>
          <c:order val="0"/>
          <c:tx>
            <c:strRef>
              <c:f>Sheet1!$B$1</c:f>
              <c:strCache>
                <c:ptCount val="1"/>
                <c:pt idx="0">
                  <c:v>Complejidad promedio</c:v>
                </c:pt>
              </c:strCache>
            </c:strRef>
          </c:tx>
          <c:spPr>
            <a:solidFill>
              <a:srgbClr val="F05A28"/>
            </a:solidFill>
            <a:effectLst/>
          </c:spPr>
          <c:invertIfNegative val="0"/>
          <c:dLbls>
            <c:numFmt formatCode="0.0" sourceLinked="0"/>
            <c:txPr>
              <a:bodyPr/>
              <a:lstStyle/>
              <a:p>
                <a:pPr>
                  <a:defRPr b="0" i="0" strike="noStrike" sz="1300" u="none">
                    <a:solidFill>
                      <a:srgbClr val="16202D"/>
                    </a:solidFill>
                    <a:latin typeface="+mn-lt"/>
                  </a:defRPr>
                </a:pPr>
              </a:p>
            </c:txPr>
            <c:showLegendKey val="0"/>
            <c:showVal val="1"/>
            <c:showCatName val="0"/>
            <c:showSerName val="0"/>
            <c:showPercent val="0"/>
            <c:showBubbleSize val="0"/>
            <c:showLeaderLines val="0"/>
          </c:dLbls>
          <c:cat>
            <c:multiLvlStrRef>
              <c:f>Sheet1!$A$2:$A$6</c:f>
              <c:multiLvlStrCache>
                <c:ptCount val="5"/>
                <c:lvl>
                  <c:pt idx="0">
                    <c:v>Alloy (B y C4)</c:v>
                  </c:pt>
                  <c:pt idx="1">
                    <c:v>Contrib (A)</c:v>
                  </c:pt>
                  <c:pt idx="2">
                    <c:v>Alloy con motor OTel (C5)</c:v>
                  </c:pt>
                  <c:pt idx="3">
                    <c:v>Híbrida C1</c:v>
                  </c:pt>
                  <c:pt idx="4">
                    <c:v>Híbrida C2</c:v>
                  </c:pt>
                </c:lvl>
              </c:multiLvlStrCache>
            </c:multiLvlStrRef>
          </c:cat>
          <c:val>
            <c:numRef>
              <c:f>Sheet1!$B$2:$B$6</c:f>
              <c:numCache>
                <c:formatCode>General</c:formatCode>
                <c:ptCount val="5"/>
                <c:pt idx="0">
                  <c:v>1.6</c:v>
                </c:pt>
                <c:pt idx="1">
                  <c:v>2.5</c:v>
                </c:pt>
                <c:pt idx="2">
                  <c:v>2.7</c:v>
                </c:pt>
                <c:pt idx="3">
                  <c:v>3.3</c:v>
                </c:pt>
                <c:pt idx="4">
                  <c:v>3.4</c:v>
                </c:pt>
              </c:numCache>
            </c:numRef>
          </c:val>
        </c:ser>
        <c:dLbls>
          <c:numFmt formatCode="0.0" sourceLinked="0"/>
          <c:txPr>
            <a:bodyPr/>
            <a:lstStyle/>
            <a:p>
              <a:pPr>
                <a:defRPr b="0" i="0" strike="noStrike" sz="1300" u="none">
                  <a:solidFill>
                    <a:srgbClr val="1620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6202D"/>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b"/>
        <c:majorGridlines>
          <c:spPr>
            <a:ln w="6350" cap="flat">
              <a:solidFill>
                <a:srgbClr val="D6DBE4"/>
              </a:solidFill>
              <a:prstDash val="solid"/>
              <a:round/>
            </a:ln>
          </c:spPr>
        </c:majorGridlines>
        <c:numFmt formatCode="0.0"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D"/>
                </a:solidFill>
                <a:latin typeface="+mn-lt"/>
              </a:defRPr>
            </a:pPr>
            <a:r>
              <a:rPr sz="1400" b="0" i="0" u="none" strike="noStrike">
                <a:solidFill>
                  <a:srgbClr val="16202D"/>
                </a:solidFill>
                <a:latin typeface="+mn-lt"/>
              </a:rPr>
              <a:t>Puntuación ponderada por escenario de pesos (1 a 5)</a:t>
            </a:r>
          </a:p>
        </c:rich>
      </c:tx>
      <c:layout/>
      <c:overlay val="0"/>
    </c:title>
    <c:autoTitleDeleted val="0"/>
    <c:plotArea>
      <c:layout/>
      <c:barChart>
        <c:barDir val="col"/>
        <c:grouping val="clustered"/>
        <c:varyColors val="0"/>
        <c:ser>
          <c:idx val="0"/>
          <c:order val="0"/>
          <c:tx>
            <c:strRef>
              <c:f>Sheet1!$B$1</c:f>
              <c:strCache>
                <c:ptCount val="1"/>
                <c:pt idx="0">
                  <c:v>Contrib</c:v>
                </c:pt>
              </c:strCache>
            </c:strRef>
          </c:tx>
          <c:spPr>
            <a:solidFill>
              <a:srgbClr val="5B6B82"/>
            </a:solidFill>
            <a:effectLst/>
          </c:spPr>
          <c:invertIfNegative val="0"/>
          <c:dLbls>
            <c:numFmt formatCode="0.00" sourceLinked="0"/>
            <c:txPr>
              <a:bodyPr/>
              <a:lstStyle/>
              <a:p>
                <a:pPr>
                  <a:defRPr b="0" i="0" strike="noStrike" sz="1100" u="none">
                    <a:solidFill>
                      <a:srgbClr val="16202D"/>
                    </a:solidFill>
                    <a:latin typeface="+mn-lt"/>
                  </a:defRPr>
                </a:pPr>
              </a:p>
            </c:txPr>
            <c:showLegendKey val="0"/>
            <c:showVal val="1"/>
            <c:showCatName val="0"/>
            <c:showSerName val="0"/>
            <c:showPercent val="0"/>
            <c:showBubbleSize val="0"/>
            <c:showLeaderLines val="0"/>
          </c:dLbls>
          <c:cat>
            <c:multiLvlStrRef>
              <c:f>Sheet1!$A$2:$A$6</c:f>
              <c:multiLvlStrCache>
                <c:ptCount val="5"/>
                <c:lvl>
                  <c:pt idx="0">
                    <c:v>Pesos base</c:v>
                  </c:pt>
                  <c:pt idx="1">
                    <c:v>Portabilidad prioritaria</c:v>
                  </c:pt>
                  <c:pt idx="2">
                    <c:v>Esfuerzo operativo</c:v>
                  </c:pt>
                  <c:pt idx="3">
                    <c:v>Funciones administradas</c:v>
                  </c:pt>
                  <c:pt idx="4">
                    <c:v>Portabilidad dominante</c:v>
                  </c:pt>
                </c:lvl>
              </c:multiLvlStrCache>
            </c:multiLvlStrRef>
          </c:cat>
          <c:val>
            <c:numRef>
              <c:f>Sheet1!$B$2:$B$6</c:f>
              <c:numCache>
                <c:formatCode>General</c:formatCode>
                <c:ptCount val="5"/>
                <c:pt idx="0">
                  <c:v>3.49</c:v>
                </c:pt>
                <c:pt idx="1">
                  <c:v>3.72</c:v>
                </c:pt>
                <c:pt idx="2">
                  <c:v>3.42</c:v>
                </c:pt>
                <c:pt idx="3">
                  <c:v>3.43</c:v>
                </c:pt>
                <c:pt idx="4">
                  <c:v>3.89</c:v>
                </c:pt>
              </c:numCache>
            </c:numRef>
          </c:val>
        </c:ser>
        <c:ser>
          <c:idx val="1"/>
          <c:order val="1"/>
          <c:tx>
            <c:strRef>
              <c:f>Sheet1!$C$1</c:f>
              <c:strCache>
                <c:ptCount val="1"/>
                <c:pt idx="0">
                  <c:v>Alloy</c:v>
                </c:pt>
              </c:strCache>
            </c:strRef>
          </c:tx>
          <c:spPr>
            <a:solidFill>
              <a:srgbClr val="F05A28"/>
            </a:solidFill>
            <a:effectLst/>
          </c:spPr>
          <c:invertIfNegative val="0"/>
          <c:dLbls>
            <c:numFmt formatCode="0.00" sourceLinked="0"/>
            <c:txPr>
              <a:bodyPr/>
              <a:lstStyle/>
              <a:p>
                <a:pPr>
                  <a:defRPr b="0" i="0" strike="noStrike" sz="1100" u="none">
                    <a:solidFill>
                      <a:srgbClr val="16202D"/>
                    </a:solidFill>
                    <a:latin typeface="+mn-lt"/>
                  </a:defRPr>
                </a:pPr>
              </a:p>
            </c:txPr>
            <c:showLegendKey val="0"/>
            <c:showVal val="1"/>
            <c:showCatName val="0"/>
            <c:showSerName val="0"/>
            <c:showPercent val="0"/>
            <c:showBubbleSize val="0"/>
            <c:showLeaderLines val="0"/>
          </c:dLbls>
          <c:cat>
            <c:multiLvlStrRef>
              <c:f>Sheet1!$A$2:$A$6</c:f>
              <c:multiLvlStrCache>
                <c:ptCount val="5"/>
                <c:lvl>
                  <c:pt idx="0">
                    <c:v>Pesos base</c:v>
                  </c:pt>
                  <c:pt idx="1">
                    <c:v>Portabilidad prioritaria</c:v>
                  </c:pt>
                  <c:pt idx="2">
                    <c:v>Esfuerzo operativo</c:v>
                  </c:pt>
                  <c:pt idx="3">
                    <c:v>Funciones administradas</c:v>
                  </c:pt>
                  <c:pt idx="4">
                    <c:v>Portabilidad dominante</c:v>
                  </c:pt>
                </c:lvl>
              </c:multiLvlStrCache>
            </c:multiLvlStrRef>
          </c:cat>
          <c:val>
            <c:numRef>
              <c:f>Sheet1!$C$2:$C$6</c:f>
              <c:numCache>
                <c:formatCode>General</c:formatCode>
                <c:ptCount val="5"/>
                <c:pt idx="0">
                  <c:v>4.21</c:v>
                </c:pt>
                <c:pt idx="1">
                  <c:v>4.01</c:v>
                </c:pt>
                <c:pt idx="2">
                  <c:v>4.18</c:v>
                </c:pt>
                <c:pt idx="3">
                  <c:v>4.3</c:v>
                </c:pt>
                <c:pt idx="4">
                  <c:v>3.89</c:v>
                </c:pt>
              </c:numCache>
            </c:numRef>
          </c:val>
        </c:ser>
        <c:ser>
          <c:idx val="2"/>
          <c:order val="2"/>
          <c:tx>
            <c:strRef>
              <c:f>Sheet1!$D$1</c:f>
              <c:strCache>
                <c:ptCount val="1"/>
                <c:pt idx="0">
                  <c:v>Híbrida C1</c:v>
                </c:pt>
              </c:strCache>
            </c:strRef>
          </c:tx>
          <c:spPr>
            <a:solidFill>
              <a:srgbClr val="2F6FD0"/>
            </a:solidFill>
            <a:effectLst/>
          </c:spPr>
          <c:invertIfNegative val="0"/>
          <c:dLbls>
            <c:numFmt formatCode="0.00" sourceLinked="0"/>
            <c:txPr>
              <a:bodyPr/>
              <a:lstStyle/>
              <a:p>
                <a:pPr>
                  <a:defRPr b="0" i="0" strike="noStrike" sz="1100" u="none">
                    <a:solidFill>
                      <a:srgbClr val="16202D"/>
                    </a:solidFill>
                    <a:latin typeface="+mn-lt"/>
                  </a:defRPr>
                </a:pPr>
              </a:p>
            </c:txPr>
            <c:showLegendKey val="0"/>
            <c:showVal val="1"/>
            <c:showCatName val="0"/>
            <c:showSerName val="0"/>
            <c:showPercent val="0"/>
            <c:showBubbleSize val="0"/>
            <c:showLeaderLines val="0"/>
          </c:dLbls>
          <c:cat>
            <c:multiLvlStrRef>
              <c:f>Sheet1!$A$2:$A$6</c:f>
              <c:multiLvlStrCache>
                <c:ptCount val="5"/>
                <c:lvl>
                  <c:pt idx="0">
                    <c:v>Pesos base</c:v>
                  </c:pt>
                  <c:pt idx="1">
                    <c:v>Portabilidad prioritaria</c:v>
                  </c:pt>
                  <c:pt idx="2">
                    <c:v>Esfuerzo operativo</c:v>
                  </c:pt>
                  <c:pt idx="3">
                    <c:v>Funciones administradas</c:v>
                  </c:pt>
                  <c:pt idx="4">
                    <c:v>Portabilidad dominante</c:v>
                  </c:pt>
                </c:lvl>
              </c:multiLvlStrCache>
            </c:multiLvlStrRef>
          </c:cat>
          <c:val>
            <c:numRef>
              <c:f>Sheet1!$D$2:$D$6</c:f>
              <c:numCache>
                <c:formatCode>General</c:formatCode>
                <c:ptCount val="5"/>
                <c:pt idx="0">
                  <c:v>3.72</c:v>
                </c:pt>
                <c:pt idx="1">
                  <c:v>3.71</c:v>
                </c:pt>
                <c:pt idx="2">
                  <c:v>3.47</c:v>
                </c:pt>
                <c:pt idx="3">
                  <c:v>3.84</c:v>
                </c:pt>
                <c:pt idx="4">
                  <c:v>3.79</c:v>
                </c:pt>
              </c:numCache>
            </c:numRef>
          </c:val>
        </c:ser>
        <c:dLbls>
          <c:numFmt formatCode="0.00" sourceLinked="0"/>
          <c:txPr>
            <a:bodyPr/>
            <a:lstStyle/>
            <a:p>
              <a:pPr>
                <a:defRPr b="0" i="0" strike="noStrike" sz="1100" u="none">
                  <a:solidFill>
                    <a:srgbClr val="1620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6202D"/>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6350" cap="flat">
              <a:solidFill>
                <a:srgbClr val="D6DBE4"/>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02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2D"/>
                </a:solidFill>
                <a:latin typeface="+mn-lt"/>
              </a:defRPr>
            </a:pPr>
            <a:r>
              <a:rPr sz="1400" b="0" i="0" u="none" strike="noStrike">
                <a:solidFill>
                  <a:srgbClr val="16202D"/>
                </a:solidFill>
                <a:latin typeface="+mn-lt"/>
              </a:rPr>
              <a:t>Días-persona de gobierno a 36 meses</a:t>
            </a:r>
          </a:p>
        </c:rich>
      </c:tx>
      <c:layout/>
      <c:overlay val="0"/>
    </c:title>
    <c:autoTitleDeleted val="0"/>
    <c:plotArea>
      <c:layout/>
      <c:barChart>
        <c:barDir val="col"/>
        <c:grouping val="clustered"/>
        <c:varyColors val="0"/>
        <c:ser>
          <c:idx val="0"/>
          <c:order val="0"/>
          <c:tx>
            <c:strRef>
              <c:f>Sheet1!$B$1</c:f>
              <c:strCache>
                <c:ptCount val="1"/>
                <c:pt idx="0">
                  <c:v>Mínimo</c:v>
                </c:pt>
              </c:strCache>
            </c:strRef>
          </c:tx>
          <c:spPr>
            <a:solidFill>
              <a:srgbClr val="5B6B82"/>
            </a:solidFill>
            <a:effectLst/>
          </c:spPr>
          <c:invertIfNegative val="0"/>
          <c:dLbls>
            <c:numFmt formatCode="0" sourceLinked="0"/>
            <c:txPr>
              <a:bodyPr/>
              <a:lstStyle/>
              <a:p>
                <a:pPr>
                  <a:defRPr b="0" i="0" strike="noStrike" sz="1200" u="none">
                    <a:solidFill>
                      <a:srgbClr val="16202D"/>
                    </a:solidFill>
                    <a:latin typeface="+mn-lt"/>
                  </a:defRPr>
                </a:pPr>
              </a:p>
            </c:txPr>
            <c:showLegendKey val="0"/>
            <c:showVal val="1"/>
            <c:showCatName val="0"/>
            <c:showSerName val="0"/>
            <c:showPercent val="0"/>
            <c:showBubbleSize val="0"/>
            <c:showLeaderLines val="0"/>
          </c:dLbls>
          <c:cat>
            <c:multiLvlStrRef>
              <c:f>Sheet1!$A$2:$A$4</c:f>
              <c:multiLvlStrCache>
                <c:ptCount val="3"/>
                <c:lvl>
                  <c:pt idx="0">
                    <c:v>Alloy</c:v>
                  </c:pt>
                  <c:pt idx="1">
                    <c:v>Contrib</c:v>
                  </c:pt>
                  <c:pt idx="2">
                    <c:v>Híbrida</c:v>
                  </c:pt>
                </c:lvl>
              </c:multiLvlStrCache>
            </c:multiLvlStrRef>
          </c:cat>
          <c:val>
            <c:numRef>
              <c:f>Sheet1!$B$2:$B$4</c:f>
              <c:numCache>
                <c:formatCode>General</c:formatCode>
                <c:ptCount val="3"/>
                <c:pt idx="0">
                  <c:v>82</c:v>
                </c:pt>
                <c:pt idx="1">
                  <c:v>164</c:v>
                </c:pt>
                <c:pt idx="2">
                  <c:v>246</c:v>
                </c:pt>
              </c:numCache>
            </c:numRef>
          </c:val>
        </c:ser>
        <c:ser>
          <c:idx val="1"/>
          <c:order val="1"/>
          <c:tx>
            <c:strRef>
              <c:f>Sheet1!$C$1</c:f>
              <c:strCache>
                <c:ptCount val="1"/>
                <c:pt idx="0">
                  <c:v>Máximo</c:v>
                </c:pt>
              </c:strCache>
            </c:strRef>
          </c:tx>
          <c:spPr>
            <a:solidFill>
              <a:srgbClr val="F05A28"/>
            </a:solidFill>
            <a:effectLst/>
          </c:spPr>
          <c:invertIfNegative val="0"/>
          <c:dLbls>
            <c:numFmt formatCode="0" sourceLinked="0"/>
            <c:txPr>
              <a:bodyPr/>
              <a:lstStyle/>
              <a:p>
                <a:pPr>
                  <a:defRPr b="0" i="0" strike="noStrike" sz="1200" u="none">
                    <a:solidFill>
                      <a:srgbClr val="16202D"/>
                    </a:solidFill>
                    <a:latin typeface="+mn-lt"/>
                  </a:defRPr>
                </a:pPr>
              </a:p>
            </c:txPr>
            <c:showLegendKey val="0"/>
            <c:showVal val="1"/>
            <c:showCatName val="0"/>
            <c:showSerName val="0"/>
            <c:showPercent val="0"/>
            <c:showBubbleSize val="0"/>
            <c:showLeaderLines val="0"/>
          </c:dLbls>
          <c:cat>
            <c:multiLvlStrRef>
              <c:f>Sheet1!$A$2:$A$4</c:f>
              <c:multiLvlStrCache>
                <c:ptCount val="3"/>
                <c:lvl>
                  <c:pt idx="0">
                    <c:v>Alloy</c:v>
                  </c:pt>
                  <c:pt idx="1">
                    <c:v>Contrib</c:v>
                  </c:pt>
                  <c:pt idx="2">
                    <c:v>Híbrida</c:v>
                  </c:pt>
                </c:lvl>
              </c:multiLvlStrCache>
            </c:multiLvlStrRef>
          </c:cat>
          <c:val>
            <c:numRef>
              <c:f>Sheet1!$C$2:$C$4</c:f>
              <c:numCache>
                <c:formatCode>General</c:formatCode>
                <c:ptCount val="3"/>
                <c:pt idx="0">
                  <c:v>123</c:v>
                </c:pt>
                <c:pt idx="1">
                  <c:v>246</c:v>
                </c:pt>
                <c:pt idx="2">
                  <c:v>328</c:v>
                </c:pt>
              </c:numCache>
            </c:numRef>
          </c:val>
        </c:ser>
        <c:dLbls>
          <c:numFmt formatCode="0" sourceLinked="0"/>
          <c:txPr>
            <a:bodyPr/>
            <a:lstStyle/>
            <a:p>
              <a:pPr>
                <a:defRPr b="0" i="0" strike="noStrike" sz="1200" u="none">
                  <a:solidFill>
                    <a:srgbClr val="16202D"/>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6202D"/>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6DB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6202D"/>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 de arquitectura para decisión. Fecha de investigación: 21 de octubre de 2026. Versiones: Contrib v0.163.0 (14 de octubre de 2026), documentación de Alloy v1.21. Todas las cifras de esfuerzo son estimaciones del analista.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Recomendación: Alloy con motor por defecto como agente estándar, gobernado con Fleet Management, GitOps y Terraform; trazas con tail sampling en dos niveles o Adaptive Traces; Contrib solo ante un componente concreto ausente. KPIs: complejidad 1,6 de 5 frente a 2,5 y 3,3; puntuación 4,21 frente a 3,49 y 3,72; 82 a 123 días-persona de gobierno a 36 meses frente a 164 a 246 y 246 a 328.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Fleet Management usa dos protocolos: Alloy Remote Config (remotecfg) y OpAMP. Para OTel Collector la configuración remota exige el OpAMP Supervisor en el mismo host. La guía oficial de Kubernetes cubre solo Alloy. El Supervisor no revierte configuraciones inválidas por sí solo. OpAMP está en beta según CNCF (julio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Capas: instrumentación OTel y Prometheus; recolección con Alloy (agentes por nodo y VM, scrapers con clustering); procesamiento con gateway de trazas de dos niveles y gateway sin estado; backend Grafana Cloud; plano de control con Git, Terraform y Fleet Management. Producción, preproducción y desarrollo comparten perfiles y se distinguen por el atributo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Opción A: Contrib con OTel Operator, Target Allocator y Supervisor. Opción B: Alloy con discovery, clustering y remotecfg. Fuentes: README del receiver Prometheus, documentación de Alloy y arquitectura de Fleet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ninguno de los dos proyectos existe un único discovery service. Alloy: componentes discovery.* más clustering por componente (gossip y hashing consistente). Contrib: service discovery del receiver Prometheus, Target Allocator del Operator y resolvers del exportador load_balancing.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receiver Prometheus de Contrib es beta; rechaza alert_config.alertmanagers, remote_read, remote_write y rule_files; es un componente con estado y sin Target Allocator las réplicas raspan duplicado. Recomendación: Alloy con prometheus.exporter.*, prometheus.scrape con clustering y remote write a Grafana Cloud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Observability identifica servicios con job = service.namespace/service.name, requiere deployment_environment y deriva los paneles RED de span metrics generadas desde trazas. Una aplicación solo con Prometheus no obtiene mapa de servicios. Grafana Cloud acepta histogramas exponenciales de OTel por defecto.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Loki documenta a Alloy como el cliente que Grafana desarrolla y soporta; Fluent Bit, Fluentd y Logstash son clientes comunitarios, Vector es de terceros. Grafana no recomienda el plugin de Logstash para despliegues nuevos. loki.write tiene bloque wal. No hay benchmarks comparables: se definen pruebas de carga.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tail sampling el pipeline pasa a dos niveles: el nivel 1 es sin estado y reparte por traceID con hashing consistente; el nivel 2 retiene spans durante decision_wait (30 s por defecto) hasta num_traces (50 000 por defecto) y decide por políticas. Todos los spans de una traza deben llegar a la misma instancia. Las span metrics se generan antes del muestreo en otro pipeline con balanceo por servicio.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 README de loadbalancingexporter v0.163.0. Estabilidad: trazas y logs beta, métricas alpha. Al cambiar los backends cambian cerca de R/N de las rutas. El exportador principal no reenvía a otro destino al fallar salvo que se habiliten retry_on_failure y sending_queue. La cola persistente no se soporta en los sub-exportadores. Alloy no tiene groupbytrace.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Observability usa por defecto el metrics-generator de Tempo en Grafana Cloud (traces_spanmetrics_*, traces_target_info) o conectores en el collector (traces_span_metrics_*, target_info; Alloy 1.5.0 o posterior, Collector 0.109 o posterior). Si se muestrea antes de Cloud, las métricas subestiman el tráfico.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DaemonSet para logs y OTLP local, StatefulSet para scraping y muestreo, Deployment para eventos y gateways. AWS: Cloud Provider Observability sin agente con rol IAM y external_id, o metric streams por Firehose. Azure: credencial de Service Principal; identidades administradas por validar.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siete funciones: administración centralizada y distribución de configuración están cubiertas; GitOps es parcial (Action, SyncPipelines y Terraform, sin aprobaciones propias); versiones de software, infraestructura y descubrimiento de targets no. Límites de ejemplo de la documentación: 200 pipelines y 2000 colectores por stack; RBAC con dos roles por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define los pipelines con fleet-management-sync-action; Terraform define tokens, políticas y atributos remotos; Argo CD o Flux despliega agentes y gateways; Fleet Management solo distribuye. SyncPipelines sobrescribe por nombre sin importar el origen: usar un solo canal para pipelines.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Plano A: atributos de Fleet Management (25 locales y 100 remotos por colector). Plano B: atributos y etiquetas que llegan a Grafana Cloud. Plano C: RBAC, access policies, protección de ramas. Una etiqueta nunca concede permisos. Taxonomía propuesta del cliente, no nativa.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de documentado frente a hipótesis. Alloy: minor cada tres semanas, parches cada una o dos; garantías de compatibilidad para GA. Contrib v0.163.0 trae varios cambios incompatibles. loadbalancing se renombró a load_balancing con alias. Rotación de credenciales: basicauth acepta proveedores de secretos desde v0.163.0.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lock-in se concentra en el backend y en la sintaxis del motor por defecto de Alloy; instrumentación y transporte OTLP son portables en ambas. Hay vía documentada de Contrib a Alloy; la inversa no está documentada.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Valoración de 1 (muy sencillo) a 5 (muy complejo) sobre 15 criterios: distribuciones, configuraciones, sistemas de administración, componentes externos, upgrades, troubleshooting, duplicación, código propio, tiempos, divergencia y conocimiento. Estimación del analista. C5 es Alloy con motor OTel como gateway.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criterios con pesos que suman 100 %. Cobertura de Grafana Cloud 12, portabilidad 9, operación 9, estabilidad 8, gestión central 7, Kubernetes 7, Prometheus 7. Puntuaciones del analista sustentadas en evidencia; separar criterios objetivos de juicios. Empate entre Alloy y Contrib cuando la portabilidad pesa 45 sobre 91 del resto, un tercio del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Esfuerzo de gobierno a 36 meses sacado de la matriz de gobierno: Alloy 10 a 15 inicial más 2 a 3 por mes; Contrib 20 a 30 más 4 a 6; híbrida 30 a 40 más 6 a 8. Son estimaciones del analista, sin benchmarks; se calibran con el piloto.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Resultado por funcionalidad. Esfuerzo en días-persona, inicial más pruebas, para plataforma empresarial; estimaciones del analista. Detalle completo en la matriz del informe HTML (14 columnas, 20 funcionalidades).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1 descubrimiento y diseño; fase 2 piloto funcional con un clúster, VMs en cada nube y cinco servicios; fase 3 carga y resiliencia; fase 4 gestión y seguridad; fase 5 evaluación de esfuerzo. Los umbrales de aceptación son propuestas a acordar con el cliente.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Riesgos principales y mitigaciones. Preguntas para el cliente: componentes necesarios, volúmenes, peso de la portabilidad, requisitos de aislamiento, plan de Grafana Cloud y licencia de Fleet Management, identidades en Azure y AWS, tolerancia a pérdida y duplicados.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Seis escenarios del prompt maestro. Para Logstash existente: Alloy como destino y Logstash como emisor transitorio; Grafana no recomienda el plugin de Loki para despliegues nuevos.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Recomendación: Alloy como agente estándar con Fleet Management, GitOps y Terraform; gateway de trazas de dos niveles o Adaptive Traces; Contrib acotado; Logstash transitorio. Cambia si la portabilidad pesa un tercio o más, si falta un componente indispensable, si el piloto penaliza a Alloy o cuando el motor OTel salga de preview.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069080"/>
            <a:ext cx="10241280" cy="10058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3"/>
                </a:solidFill>
              </a:rPr>
              <a:t>Alloy frente a OpenTelemetry Collector Contrib · 21 de octubre de 2026</a:t>
            </a:r>
            <a:endParaRPr lang="en-US" sz="1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LOS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0058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828800"/>
          </a:xfrm>
          <a:prstGeom prst="rect">
            <a:avLst/>
          </a:prstGeom>
          <a:noFill/>
          <a:ln/>
        </p:spPr>
        <p:txBody>
          <a:bodyPr wrap="square" lIns="0" tIns="0" rIns="0" bIns="0" rtlCol="0" anchor="t"/>
          <a:lstStyle/>
          <a:p>
            <a:pPr algn="l" indent="0" marL="0">
              <a:buNone/>
            </a:pPr>
            <a:r>
              <a:rPr lang="en-US" sz="4400" b="1" dirty="0">
                <a:solidFill>
                  <a:schemeClr val="bg1"/>
                </a:solidFill>
              </a:rPr>
              <a:t>Alloy frente a OpenTelemetry Collector Contrib con Grafana Cloud</a:t>
            </a:r>
            <a:endParaRPr lang="en-US" sz="4400" dirty="0"/>
          </a:p>
        </p:txBody>
      </p:sp>
      <p:sp>
        <p:nvSpPr>
          <p:cNvPr id="3" name="Text 0"/>
          <p:cNvSpPr/>
          <p:nvPr>
            <p:ph idx="101" type="body" hasCustomPrompt="1"/>
          </p:nvPr>
        </p:nvSpPr>
        <p:spPr>
          <a:xfrm>
            <a:off x="731520" y="4069080"/>
            <a:ext cx="10241280" cy="1005840"/>
          </a:xfrm>
          <a:prstGeom prst="rect">
            <a:avLst/>
          </a:prstGeom>
          <a:noFill/>
          <a:ln/>
        </p:spPr>
        <p:txBody>
          <a:bodyPr wrap="square" lIns="0" tIns="0" rIns="0" bIns="0" rtlCol="0" anchor="t"/>
          <a:lstStyle/>
          <a:p>
            <a:pPr algn="l" indent="0" marL="0">
              <a:buNone/>
            </a:pPr>
            <a:r>
              <a:rPr lang="en-US" sz="2000" dirty="0">
                <a:solidFill>
                  <a:schemeClr val="bg2"/>
                </a:solidFill>
              </a:rPr>
              <a:t>Evaluación para una plataforma híbrida en Kubernetes y VMs, AWS y Azure, con GitOps, Terraform y preferencia por reducir el lock-in</a:t>
            </a:r>
            <a:endParaRPr lang="en-US" sz="2000" dirty="0"/>
          </a:p>
        </p:txBody>
      </p:sp>
      <p:sp>
        <p:nvSpPr>
          <p:cNvPr id="5" name="portada marca"/>
          <p:cNvSpPr/>
          <p:nvPr/>
        </p:nvSpPr>
        <p:spPr>
          <a:xfrm>
            <a:off x="10058400" y="5120640"/>
            <a:ext cx="1097280" cy="1097280"/>
          </a:xfrm>
          <a:prstGeom prst="ellipse">
            <a:avLst/>
          </a:prstGeom>
          <a:solidFill>
            <a:schemeClr val="accent1"/>
          </a:solidFill>
          <a:ln w="6350">
            <a:solidFill>
              <a:schemeClr val="accent1"/>
            </a:solidFill>
            <a:prstDash val="solid"/>
          </a:ln>
        </p:spPr>
      </p:sp>
      <p:pic>
        <p:nvPicPr>
          <p:cNvPr id="6" name="Image 0" descr="Balanza">    </p:cNvPr>
          <p:cNvPicPr>
            <a:picLocks noChangeAspect="1"/>
          </p:cNvPicPr>
          <p:nvPr/>
        </p:nvPicPr>
        <p:blipFill>
          <a:blip r:embed="rId1"/>
          <a:stretch>
            <a:fillRect/>
          </a:stretch>
        </p:blipFill>
        <p:spPr>
          <a:xfrm>
            <a:off x="10332720" y="5394960"/>
            <a:ext cx="548640" cy="548640"/>
          </a:xfrm>
          <a:prstGeom prst="rect">
            <a:avLst/>
          </a:prstGeom>
        </p:spPr>
      </p:pic>
      <p:sp>
        <p:nvSpPr>
          <p:cNvPr id="7" name="Text 3"/>
          <p:cNvSpPr txBox="1"/>
          <p:nvPr/>
        </p:nvSpPr>
        <p:spPr>
          <a:xfrm>
            <a:off x="731520" y="5943600"/>
            <a:ext cx="4572000" cy="365760"/>
          </a:xfrm>
          <a:prstGeom prst="rect">
            <a:avLst/>
          </a:prstGeom>
          <a:noFill/>
          <a:ln/>
        </p:spPr>
        <p:txBody>
          <a:bodyPr wrap="square" lIns="0" tIns="0" rIns="0" bIns="0" rtlCol="0" anchor="ctr"/>
          <a:lstStyle/>
          <a:p>
            <a:pPr indent="0" marL="0">
              <a:buNone/>
            </a:pPr>
            <a:r>
              <a:rPr lang="en-US" sz="1400" dirty="0">
                <a:solidFill>
                  <a:schemeClr val="bg2"/>
                </a:solidFill>
              </a:rPr>
              <a:t>21 de octubre de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Alloy como estándar, Contrib solo si hace falta</a:t>
            </a:r>
            <a:endParaRPr lang="en-US" sz="3400" dirty="0"/>
          </a:p>
        </p:txBody>
      </p:sp>
      <p:sp>
        <p:nvSpPr>
          <p:cNvPr id="4" name="stat 1,6 de 5"/>
          <p:cNvSpPr/>
          <p:nvPr/>
        </p:nvSpPr>
        <p:spPr>
          <a:xfrm>
            <a:off x="548640" y="1554480"/>
            <a:ext cx="2651760" cy="1600200"/>
          </a:xfrm>
          <a:prstGeom prst="roundRect">
            <a:avLst>
              <a:gd name="adj" fmla="val 4571"/>
            </a:avLst>
          </a:prstGeom>
          <a:solidFill>
            <a:schemeClr val="bg2"/>
          </a:solidFill>
          <a:ln w="9525">
            <a:solidFill>
              <a:schemeClr val="bg2"/>
            </a:solidFill>
            <a:prstDash val="solid"/>
          </a:ln>
        </p:spPr>
      </p:sp>
      <p:sp>
        <p:nvSpPr>
          <p:cNvPr id="5" name="Text 2"/>
          <p:cNvSpPr txBox="1"/>
          <p:nvPr/>
        </p:nvSpPr>
        <p:spPr>
          <a:xfrm>
            <a:off x="731520" y="1664208"/>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1,6 de 5</a:t>
            </a:r>
            <a:endParaRPr lang="en-US" sz="3600" dirty="0"/>
          </a:p>
        </p:txBody>
      </p:sp>
      <p:sp>
        <p:nvSpPr>
          <p:cNvPr id="6" name="Text 3"/>
          <p:cNvSpPr txBox="1"/>
          <p:nvPr/>
        </p:nvSpPr>
        <p:spPr>
          <a:xfrm>
            <a:off x="731520" y="2377440"/>
            <a:ext cx="2286000" cy="685800"/>
          </a:xfrm>
          <a:prstGeom prst="rect">
            <a:avLst/>
          </a:prstGeom>
          <a:noFill/>
          <a:ln/>
        </p:spPr>
        <p:txBody>
          <a:bodyPr wrap="square" lIns="0" tIns="0" rIns="0" bIns="0" rtlCol="0" anchor="t"/>
          <a:lstStyle/>
          <a:p>
            <a:pPr indent="0" marL="0">
              <a:buNone/>
            </a:pPr>
            <a:r>
              <a:rPr lang="en-US" sz="1300" dirty="0">
                <a:solidFill>
                  <a:schemeClr val="tx1"/>
                </a:solidFill>
              </a:rPr>
              <a:t>Complejidad de Alloy. Contrib 2,5; híbrida 3,3</a:t>
            </a:r>
            <a:endParaRPr lang="en-US" sz="1300" dirty="0"/>
          </a:p>
        </p:txBody>
      </p:sp>
      <p:sp>
        <p:nvSpPr>
          <p:cNvPr id="7" name="stat 4,21 de 5"/>
          <p:cNvSpPr/>
          <p:nvPr/>
        </p:nvSpPr>
        <p:spPr>
          <a:xfrm>
            <a:off x="3383280" y="1554480"/>
            <a:ext cx="2651760" cy="1600200"/>
          </a:xfrm>
          <a:prstGeom prst="roundRect">
            <a:avLst>
              <a:gd name="adj" fmla="val 4571"/>
            </a:avLst>
          </a:prstGeom>
          <a:solidFill>
            <a:schemeClr val="bg2"/>
          </a:solidFill>
          <a:ln w="9525">
            <a:solidFill>
              <a:schemeClr val="bg2"/>
            </a:solidFill>
            <a:prstDash val="solid"/>
          </a:ln>
        </p:spPr>
      </p:sp>
      <p:sp>
        <p:nvSpPr>
          <p:cNvPr id="8" name="Text 5"/>
          <p:cNvSpPr txBox="1"/>
          <p:nvPr/>
        </p:nvSpPr>
        <p:spPr>
          <a:xfrm>
            <a:off x="3566160" y="1664208"/>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4,21 de 5</a:t>
            </a:r>
            <a:endParaRPr lang="en-US" sz="3600" dirty="0"/>
          </a:p>
        </p:txBody>
      </p:sp>
      <p:sp>
        <p:nvSpPr>
          <p:cNvPr id="9" name="Text 6"/>
          <p:cNvSpPr txBox="1"/>
          <p:nvPr/>
        </p:nvSpPr>
        <p:spPr>
          <a:xfrm>
            <a:off x="3566160" y="2377440"/>
            <a:ext cx="2286000" cy="685800"/>
          </a:xfrm>
          <a:prstGeom prst="rect">
            <a:avLst/>
          </a:prstGeom>
          <a:noFill/>
          <a:ln/>
        </p:spPr>
        <p:txBody>
          <a:bodyPr wrap="square" lIns="0" tIns="0" rIns="0" bIns="0" rtlCol="0" anchor="t"/>
          <a:lstStyle/>
          <a:p>
            <a:pPr indent="0" marL="0">
              <a:buNone/>
            </a:pPr>
            <a:r>
              <a:rPr lang="en-US" sz="1300" dirty="0">
                <a:solidFill>
                  <a:schemeClr val="tx1"/>
                </a:solidFill>
              </a:rPr>
              <a:t>Puntuación ponderada. Contrib 3,49; híbrida 3,72</a:t>
            </a:r>
            <a:endParaRPr lang="en-US" sz="1300" dirty="0"/>
          </a:p>
        </p:txBody>
      </p:sp>
      <p:sp>
        <p:nvSpPr>
          <p:cNvPr id="10" name="stat 82 a 123"/>
          <p:cNvSpPr/>
          <p:nvPr/>
        </p:nvSpPr>
        <p:spPr>
          <a:xfrm>
            <a:off x="6217920" y="1554480"/>
            <a:ext cx="2651760" cy="1600200"/>
          </a:xfrm>
          <a:prstGeom prst="roundRect">
            <a:avLst>
              <a:gd name="adj" fmla="val 4571"/>
            </a:avLst>
          </a:prstGeom>
          <a:solidFill>
            <a:schemeClr val="bg2"/>
          </a:solidFill>
          <a:ln w="9525">
            <a:solidFill>
              <a:schemeClr val="bg2"/>
            </a:solidFill>
            <a:prstDash val="solid"/>
          </a:ln>
        </p:spPr>
      </p:sp>
      <p:sp>
        <p:nvSpPr>
          <p:cNvPr id="11" name="Text 8"/>
          <p:cNvSpPr txBox="1"/>
          <p:nvPr/>
        </p:nvSpPr>
        <p:spPr>
          <a:xfrm>
            <a:off x="6400800" y="1664208"/>
            <a:ext cx="22860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82 a 123</a:t>
            </a:r>
            <a:endParaRPr lang="en-US" sz="3600" dirty="0"/>
          </a:p>
        </p:txBody>
      </p:sp>
      <p:sp>
        <p:nvSpPr>
          <p:cNvPr id="12" name="Text 9"/>
          <p:cNvSpPr txBox="1"/>
          <p:nvPr/>
        </p:nvSpPr>
        <p:spPr>
          <a:xfrm>
            <a:off x="6400800" y="2377440"/>
            <a:ext cx="2286000" cy="685800"/>
          </a:xfrm>
          <a:prstGeom prst="rect">
            <a:avLst/>
          </a:prstGeom>
          <a:noFill/>
          <a:ln/>
        </p:spPr>
        <p:txBody>
          <a:bodyPr wrap="square" lIns="0" tIns="0" rIns="0" bIns="0" rtlCol="0" anchor="t"/>
          <a:lstStyle/>
          <a:p>
            <a:pPr indent="0" marL="0">
              <a:buNone/>
            </a:pPr>
            <a:r>
              <a:rPr lang="en-US" sz="1300" dirty="0">
                <a:solidFill>
                  <a:schemeClr val="tx1"/>
                </a:solidFill>
              </a:rPr>
              <a:t>Días-persona de gobierno a 36 meses. Contrib 164 a 246</a:t>
            </a:r>
            <a:endParaRPr lang="en-US" sz="1300" dirty="0"/>
          </a:p>
        </p:txBody>
      </p:sp>
      <p:sp>
        <p:nvSpPr>
          <p:cNvPr id="13" name="stat v0.163.0"/>
          <p:cNvSpPr/>
          <p:nvPr/>
        </p:nvSpPr>
        <p:spPr>
          <a:xfrm>
            <a:off x="9052560" y="1554480"/>
            <a:ext cx="2587752" cy="1600200"/>
          </a:xfrm>
          <a:prstGeom prst="roundRect">
            <a:avLst>
              <a:gd name="adj" fmla="val 4571"/>
            </a:avLst>
          </a:prstGeom>
          <a:solidFill>
            <a:schemeClr val="bg2"/>
          </a:solidFill>
          <a:ln w="9525">
            <a:solidFill>
              <a:schemeClr val="bg2"/>
            </a:solidFill>
            <a:prstDash val="solid"/>
          </a:ln>
        </p:spPr>
      </p:sp>
      <p:sp>
        <p:nvSpPr>
          <p:cNvPr id="14" name="Text 11"/>
          <p:cNvSpPr txBox="1"/>
          <p:nvPr/>
        </p:nvSpPr>
        <p:spPr>
          <a:xfrm>
            <a:off x="9235440" y="1664208"/>
            <a:ext cx="2221992"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v0.163.0</a:t>
            </a:r>
            <a:endParaRPr lang="en-US" sz="3600" dirty="0"/>
          </a:p>
        </p:txBody>
      </p:sp>
      <p:sp>
        <p:nvSpPr>
          <p:cNvPr id="15" name="Text 12"/>
          <p:cNvSpPr txBox="1"/>
          <p:nvPr/>
        </p:nvSpPr>
        <p:spPr>
          <a:xfrm>
            <a:off x="9235440" y="2377440"/>
            <a:ext cx="2221992" cy="685800"/>
          </a:xfrm>
          <a:prstGeom prst="rect">
            <a:avLst/>
          </a:prstGeom>
          <a:noFill/>
          <a:ln/>
        </p:spPr>
        <p:txBody>
          <a:bodyPr wrap="square" lIns="0" tIns="0" rIns="0" bIns="0" rtlCol="0" anchor="t"/>
          <a:lstStyle/>
          <a:p>
            <a:pPr indent="0" marL="0">
              <a:buNone/>
            </a:pPr>
            <a:r>
              <a:rPr lang="en-US" sz="1300" dirty="0">
                <a:solidFill>
                  <a:schemeClr val="tx1"/>
                </a:solidFill>
              </a:rPr>
              <a:t>Contrib vigente, 14 de octubre de 2026</a:t>
            </a:r>
            <a:endParaRPr lang="en-US" sz="1300" dirty="0"/>
          </a:p>
        </p:txBody>
      </p:sp>
      <p:sp>
        <p:nvSpPr>
          <p:cNvPr id="16" name="card Entorno Prometheus-céntrico"/>
          <p:cNvSpPr/>
          <p:nvPr/>
        </p:nvSpPr>
        <p:spPr>
          <a:xfrm>
            <a:off x="548640" y="3429000"/>
            <a:ext cx="3566160" cy="2743200"/>
          </a:xfrm>
          <a:prstGeom prst="roundRect">
            <a:avLst>
              <a:gd name="adj" fmla="val 2667"/>
            </a:avLst>
          </a:prstGeom>
          <a:solidFill>
            <a:schemeClr val="bg2"/>
          </a:solidFill>
          <a:ln w="9525">
            <a:solidFill>
              <a:schemeClr val="bg2"/>
            </a:solidFill>
            <a:prstDash val="solid"/>
          </a:ln>
        </p:spPr>
      </p:sp>
      <p:sp>
        <p:nvSpPr>
          <p:cNvPr id="17" name="text Entorno Prometheus-céntrico"/>
          <p:cNvSpPr txBox="1"/>
          <p:nvPr/>
        </p:nvSpPr>
        <p:spPr>
          <a:xfrm>
            <a:off x="731520" y="3566160"/>
            <a:ext cx="3200400" cy="24688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Entorno Prometheus-céntrico</a:t>
            </a:r>
            <a:endParaRPr lang="en-US" sz="2000" dirty="0"/>
          </a:p>
          <a:p>
            <a:pPr marL="177800" indent="-177800">
              <a:spcAft>
                <a:spcPts val="400"/>
              </a:spcAft>
              <a:buSzPct val="100000"/>
              <a:buChar char="•"/>
            </a:pPr>
            <a:r>
              <a:rPr lang="en-US" sz="1700" dirty="0">
                <a:solidFill>
                  <a:schemeClr val="tx1"/>
                </a:solidFill>
              </a:rPr>
              <a:t>Exporters, descubrimiento y clustering en un binario</a:t>
            </a:r>
            <a:endParaRPr lang="en-US" sz="2000" dirty="0"/>
          </a:p>
          <a:p>
            <a:pPr marL="177800" indent="-177800">
              <a:spcAft>
                <a:spcPts val="400"/>
              </a:spcAft>
              <a:buSzPct val="100000"/>
              <a:buChar char="•"/>
            </a:pPr>
            <a:r>
              <a:rPr lang="en-US" sz="1700" dirty="0">
                <a:solidFill>
                  <a:schemeClr val="tx1"/>
                </a:solidFill>
              </a:rPr>
              <a:t>Contrib exige receiver beta, Target Allocator y Operator</a:t>
            </a:r>
            <a:endParaRPr lang="en-US" sz="2000" dirty="0"/>
          </a:p>
        </p:txBody>
      </p:sp>
      <p:sp>
        <p:nvSpPr>
          <p:cNvPr id="18" name="card Fleet Management cubre ambos"/>
          <p:cNvSpPr/>
          <p:nvPr/>
        </p:nvSpPr>
        <p:spPr>
          <a:xfrm>
            <a:off x="4297680" y="3429000"/>
            <a:ext cx="3566160" cy="2743200"/>
          </a:xfrm>
          <a:prstGeom prst="roundRect">
            <a:avLst>
              <a:gd name="adj" fmla="val 2667"/>
            </a:avLst>
          </a:prstGeom>
          <a:solidFill>
            <a:schemeClr val="bg2"/>
          </a:solidFill>
          <a:ln w="9525">
            <a:solidFill>
              <a:schemeClr val="bg2"/>
            </a:solidFill>
            <a:prstDash val="solid"/>
          </a:ln>
        </p:spPr>
      </p:sp>
      <p:sp>
        <p:nvSpPr>
          <p:cNvPr id="19" name="text Fleet Management cubre ambos"/>
          <p:cNvSpPr txBox="1"/>
          <p:nvPr/>
        </p:nvSpPr>
        <p:spPr>
          <a:xfrm>
            <a:off x="4480560" y="3566160"/>
            <a:ext cx="3200400" cy="24688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Fleet Management cubre ambos</a:t>
            </a:r>
            <a:endParaRPr lang="en-US" sz="2000" dirty="0"/>
          </a:p>
          <a:p>
            <a:pPr marL="177800" indent="-177800">
              <a:spcAft>
                <a:spcPts val="400"/>
              </a:spcAft>
              <a:buSzPct val="100000"/>
              <a:buChar char="•"/>
            </a:pPr>
            <a:r>
              <a:rPr lang="en-US" sz="1700" dirty="0">
                <a:solidFill>
                  <a:schemeClr val="tx1"/>
                </a:solidFill>
              </a:rPr>
              <a:t>La ventaja de Alloy: onboarding oficial en Kubernetes y retorno a la última configuración válida</a:t>
            </a:r>
            <a:endParaRPr lang="en-US" sz="2000" dirty="0"/>
          </a:p>
        </p:txBody>
      </p:sp>
      <p:sp>
        <p:nvSpPr>
          <p:cNvPr id="20" name="card Portabilidad con disciplina"/>
          <p:cNvSpPr/>
          <p:nvPr/>
        </p:nvSpPr>
        <p:spPr>
          <a:xfrm>
            <a:off x="8046720" y="3429000"/>
            <a:ext cx="3593592" cy="2743200"/>
          </a:xfrm>
          <a:prstGeom prst="roundRect">
            <a:avLst>
              <a:gd name="adj" fmla="val 2667"/>
            </a:avLst>
          </a:prstGeom>
          <a:solidFill>
            <a:schemeClr val="bg2"/>
          </a:solidFill>
          <a:ln w="9525">
            <a:solidFill>
              <a:schemeClr val="bg2"/>
            </a:solidFill>
            <a:prstDash val="solid"/>
          </a:ln>
        </p:spPr>
      </p:sp>
      <p:sp>
        <p:nvSpPr>
          <p:cNvPr id="21" name="text Portabilidad con disciplina"/>
          <p:cNvSpPr txBox="1"/>
          <p:nvPr/>
        </p:nvSpPr>
        <p:spPr>
          <a:xfrm>
            <a:off x="8229600" y="3566160"/>
            <a:ext cx="3227832" cy="24688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Portabilidad con disciplina</a:t>
            </a:r>
            <a:endParaRPr lang="en-US" sz="2000" dirty="0"/>
          </a:p>
          <a:p>
            <a:pPr marL="177800" indent="-177800">
              <a:spcAft>
                <a:spcPts val="400"/>
              </a:spcAft>
              <a:buSzPct val="100000"/>
              <a:buChar char="•"/>
            </a:pPr>
            <a:r>
              <a:rPr lang="en-US" sz="1700" dirty="0">
                <a:solidFill>
                  <a:schemeClr val="tx1"/>
                </a:solidFill>
              </a:rPr>
              <a:t>OTLP, convenciones semánticas y Git</a:t>
            </a:r>
            <a:endParaRPr lang="en-US" sz="2000" dirty="0"/>
          </a:p>
          <a:p>
            <a:pPr marL="177800" indent="-177800">
              <a:spcAft>
                <a:spcPts val="400"/>
              </a:spcAft>
              <a:buSzPct val="100000"/>
              <a:buChar char="•"/>
            </a:pPr>
            <a:r>
              <a:rPr lang="en-US" sz="1700" dirty="0">
                <a:solidFill>
                  <a:schemeClr val="tx1"/>
                </a:solidFill>
              </a:rPr>
              <a:t>Motor OTel de Alloy como salida (preview)</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Fleet Management ya administra ambos</a:t>
            </a:r>
            <a:endParaRPr lang="en-US" sz="3400" dirty="0"/>
          </a:p>
        </p:txBody>
      </p:sp>
      <p:sp>
        <p:nvSpPr>
          <p:cNvPr id="4" name="icon circle"/>
          <p:cNvSpPr/>
          <p:nvPr/>
        </p:nvSpPr>
        <p:spPr>
          <a:xfrm>
            <a:off x="731520" y="1645920"/>
            <a:ext cx="548640" cy="548640"/>
          </a:xfrm>
          <a:prstGeom prst="ellipse">
            <a:avLst/>
          </a:prstGeom>
          <a:solidFill>
            <a:schemeClr val="accent1"/>
          </a:solidFill>
          <a:ln w="6350">
            <a:solidFill>
              <a:schemeClr val="accent1"/>
            </a:solidFill>
            <a:prstDash val="solid"/>
          </a:ln>
        </p:spPr>
      </p:sp>
      <p:pic>
        <p:nvPicPr>
          <p:cNvPr id="5" name="Image 0" descr="FaServer">    </p:cNvPr>
          <p:cNvPicPr>
            <a:picLocks noChangeAspect="1"/>
          </p:cNvPicPr>
          <p:nvPr/>
        </p:nvPicPr>
        <p:blipFill>
          <a:blip r:embed="rId1"/>
          <a:stretch>
            <a:fillRect/>
          </a:stretch>
        </p:blipFill>
        <p:spPr>
          <a:xfrm>
            <a:off x="859536" y="1773936"/>
            <a:ext cx="292608" cy="292608"/>
          </a:xfrm>
          <a:prstGeom prst="rect">
            <a:avLst/>
          </a:prstGeom>
        </p:spPr>
      </p:pic>
      <p:sp>
        <p:nvSpPr>
          <p:cNvPr id="6" name="icon circle"/>
          <p:cNvSpPr/>
          <p:nvPr/>
        </p:nvSpPr>
        <p:spPr>
          <a:xfrm>
            <a:off x="6309360" y="1645920"/>
            <a:ext cx="548640" cy="548640"/>
          </a:xfrm>
          <a:prstGeom prst="ellipse">
            <a:avLst/>
          </a:prstGeom>
          <a:solidFill>
            <a:schemeClr val="accent2"/>
          </a:solidFill>
          <a:ln w="6350">
            <a:solidFill>
              <a:schemeClr val="accent2"/>
            </a:solidFill>
            <a:prstDash val="solid"/>
          </a:ln>
        </p:spPr>
      </p:sp>
      <p:pic>
        <p:nvPicPr>
          <p:cNvPr id="7" name="Image 1" descr="FaExchangeAlt">    </p:cNvPr>
          <p:cNvPicPr>
            <a:picLocks noChangeAspect="1"/>
          </p:cNvPicPr>
          <p:nvPr/>
        </p:nvPicPr>
        <p:blipFill>
          <a:blip r:embed="rId2"/>
          <a:stretch>
            <a:fillRect/>
          </a:stretch>
        </p:blipFill>
        <p:spPr>
          <a:xfrm>
            <a:off x="6437376" y="1773936"/>
            <a:ext cx="292608" cy="292608"/>
          </a:xfrm>
          <a:prstGeom prst="rect">
            <a:avLst/>
          </a:prstGeom>
        </p:spPr>
      </p:pic>
      <p:sp>
        <p:nvSpPr>
          <p:cNvPr id="8" name="card Alloy Remote Config"/>
          <p:cNvSpPr/>
          <p:nvPr/>
        </p:nvSpPr>
        <p:spPr>
          <a:xfrm>
            <a:off x="548640" y="2377440"/>
            <a:ext cx="5394960" cy="2926080"/>
          </a:xfrm>
          <a:prstGeom prst="roundRect">
            <a:avLst>
              <a:gd name="adj" fmla="val 2500"/>
            </a:avLst>
          </a:prstGeom>
          <a:solidFill>
            <a:schemeClr val="bg2"/>
          </a:solidFill>
          <a:ln w="9525">
            <a:solidFill>
              <a:schemeClr val="bg2"/>
            </a:solidFill>
            <a:prstDash val="solid"/>
          </a:ln>
        </p:spPr>
      </p:sp>
      <p:sp>
        <p:nvSpPr>
          <p:cNvPr id="9" name="text Alloy Remote Config"/>
          <p:cNvSpPr txBox="1"/>
          <p:nvPr/>
        </p:nvSpPr>
        <p:spPr>
          <a:xfrm>
            <a:off x="731520" y="2514600"/>
            <a:ext cx="5029200" cy="265176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Alloy Remote Config</a:t>
            </a:r>
            <a:endParaRPr lang="en-US" sz="2000" dirty="0"/>
          </a:p>
          <a:p>
            <a:pPr marL="177800" indent="-177800">
              <a:spcAft>
                <a:spcPts val="400"/>
              </a:spcAft>
              <a:buSzPct val="100000"/>
              <a:buChar char="•"/>
            </a:pPr>
            <a:r>
              <a:rPr lang="en-US" sz="1700" dirty="0">
                <a:solidFill>
                  <a:schemeClr val="tx1"/>
                </a:solidFill>
              </a:rPr>
              <a:t>Bloque remotecfg en la configuración raíz</a:t>
            </a:r>
            <a:endParaRPr lang="en-US" sz="2000" dirty="0"/>
          </a:p>
          <a:p>
            <a:pPr marL="177800" indent="-177800">
              <a:spcAft>
                <a:spcPts val="400"/>
              </a:spcAft>
              <a:buSzPct val="100000"/>
              <a:buChar char="•"/>
            </a:pPr>
            <a:r>
              <a:rPr lang="en-US" sz="1700" dirty="0">
                <a:solidFill>
                  <a:schemeClr val="tx1"/>
                </a:solidFill>
              </a:rPr>
              <a:t>Chart de Kubernetes Monitoring con soporte integrado</a:t>
            </a:r>
            <a:endParaRPr lang="en-US" sz="2000" dirty="0"/>
          </a:p>
          <a:p>
            <a:pPr marL="177800" indent="-177800">
              <a:spcAft>
                <a:spcPts val="400"/>
              </a:spcAft>
              <a:buSzPct val="100000"/>
              <a:buChar char="•"/>
            </a:pPr>
            <a:r>
              <a:rPr lang="en-US" sz="1700" dirty="0">
                <a:solidFill>
                  <a:schemeClr val="tx1"/>
                </a:solidFill>
              </a:rPr>
              <a:t>Aislamiento entre configuración local y remota</a:t>
            </a:r>
            <a:endParaRPr lang="en-US" sz="2000" dirty="0"/>
          </a:p>
          <a:p>
            <a:pPr marL="177800" indent="-177800">
              <a:spcAft>
                <a:spcPts val="400"/>
              </a:spcAft>
              <a:buSzPct val="100000"/>
              <a:buChar char="•"/>
            </a:pPr>
            <a:r>
              <a:rPr lang="en-US" sz="1700" dirty="0">
                <a:solidFill>
                  <a:schemeClr val="tx1"/>
                </a:solidFill>
              </a:rPr>
              <a:t>Vuelve a la última configuración válida</a:t>
            </a:r>
            <a:endParaRPr lang="en-US" sz="2000" dirty="0"/>
          </a:p>
        </p:txBody>
      </p:sp>
      <p:sp>
        <p:nvSpPr>
          <p:cNvPr id="10" name="card OpAMP con Supervisor"/>
          <p:cNvSpPr/>
          <p:nvPr/>
        </p:nvSpPr>
        <p:spPr>
          <a:xfrm>
            <a:off x="6126480" y="2377440"/>
            <a:ext cx="5513832" cy="2926080"/>
          </a:xfrm>
          <a:prstGeom prst="roundRect">
            <a:avLst>
              <a:gd name="adj" fmla="val 2500"/>
            </a:avLst>
          </a:prstGeom>
          <a:solidFill>
            <a:schemeClr val="bg2"/>
          </a:solidFill>
          <a:ln w="9525">
            <a:solidFill>
              <a:schemeClr val="bg2"/>
            </a:solidFill>
            <a:prstDash val="solid"/>
          </a:ln>
        </p:spPr>
      </p:sp>
      <p:sp>
        <p:nvSpPr>
          <p:cNvPr id="11" name="text OpAMP con Supervisor"/>
          <p:cNvSpPr txBox="1"/>
          <p:nvPr/>
        </p:nvSpPr>
        <p:spPr>
          <a:xfrm>
            <a:off x="6309360" y="2514600"/>
            <a:ext cx="5148072" cy="265176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OpAMP con Supervisor</a:t>
            </a:r>
            <a:endParaRPr lang="en-US" sz="2000" dirty="0"/>
          </a:p>
          <a:p>
            <a:pPr marL="177800" indent="-177800">
              <a:spcAft>
                <a:spcPts val="400"/>
              </a:spcAft>
              <a:buSzPct val="100000"/>
              <a:buChar char="•"/>
            </a:pPr>
            <a:r>
              <a:rPr lang="en-US" sz="1700" dirty="0">
                <a:solidFill>
                  <a:schemeClr val="tx1"/>
                </a:solidFill>
              </a:rPr>
              <a:t>Cualquier Collector con extensión OpAMP</a:t>
            </a:r>
            <a:endParaRPr lang="en-US" sz="2000" dirty="0"/>
          </a:p>
          <a:p>
            <a:pPr marL="177800" indent="-177800">
              <a:spcAft>
                <a:spcPts val="400"/>
              </a:spcAft>
              <a:buSzPct val="100000"/>
              <a:buChar char="•"/>
            </a:pPr>
            <a:r>
              <a:rPr lang="en-US" sz="1700" dirty="0">
                <a:solidFill>
                  <a:schemeClr val="tx1"/>
                </a:solidFill>
              </a:rPr>
              <a:t>Configuración remota solo con Supervisor en el host</a:t>
            </a:r>
            <a:endParaRPr lang="en-US" sz="2000" dirty="0"/>
          </a:p>
          <a:p>
            <a:pPr marL="177800" indent="-177800">
              <a:spcAft>
                <a:spcPts val="400"/>
              </a:spcAft>
              <a:buSzPct val="100000"/>
              <a:buChar char="•"/>
            </a:pPr>
            <a:r>
              <a:rPr lang="en-US" sz="1700" dirty="0">
                <a:solidFill>
                  <a:schemeClr val="tx1"/>
                </a:solidFill>
              </a:rPr>
              <a:t>Sin guía oficial para Kubernetes; no revierte solo</a:t>
            </a:r>
            <a:endParaRPr lang="en-US" sz="2000" dirty="0"/>
          </a:p>
          <a:p>
            <a:pPr marL="177800" indent="-177800">
              <a:spcAft>
                <a:spcPts val="400"/>
              </a:spcAft>
              <a:buSzPct val="100000"/>
              <a:buChar char="•"/>
            </a:pPr>
            <a:r>
              <a:rPr lang="en-US" sz="1700" dirty="0">
                <a:solidFill>
                  <a:schemeClr val="tx1"/>
                </a:solidFill>
              </a:rPr>
              <a:t>OpAMP en beta</a:t>
            </a:r>
            <a:endParaRPr lang="en-US" sz="2000" dirty="0"/>
          </a:p>
        </p:txBody>
      </p:sp>
      <p:sp>
        <p:nvSpPr>
          <p:cNvPr id="12" name="Text 7"/>
          <p:cNvSpPr txBox="1"/>
          <p:nvPr/>
        </p:nvSpPr>
        <p:spPr>
          <a:xfrm>
            <a:off x="548640" y="5532120"/>
            <a:ext cx="11064240" cy="640080"/>
          </a:xfrm>
          <a:prstGeom prst="rect">
            <a:avLst/>
          </a:prstGeom>
          <a:noFill/>
          <a:ln/>
        </p:spPr>
        <p:txBody>
          <a:bodyPr wrap="square" lIns="0" tIns="0" rIns="0" bIns="0" rtlCol="0" anchor="ctr"/>
          <a:lstStyle/>
          <a:p>
            <a:pPr indent="0" marL="0">
              <a:buNone/>
            </a:pPr>
            <a:r>
              <a:rPr lang="en-US" sz="1600" b="1" dirty="0">
                <a:solidFill>
                  <a:schemeClr val="tx1"/>
                </a:solidFill>
              </a:rPr>
              <a:t>Fleet Management cubre: </a:t>
            </a:r>
            <a:pPr indent="0" marL="0">
              <a:buNone/>
            </a:pPr>
            <a:r>
              <a:rPr lang="en-US" sz="1600" dirty="0">
                <a:solidFill>
                  <a:schemeClr val="tx1"/>
                </a:solidFill>
              </a:rPr>
              <a:t>configuración, atributos, salud y rollout. </a:t>
            </a:r>
            <a:pPr indent="0" marL="0">
              <a:buNone/>
            </a:pPr>
            <a:r>
              <a:rPr lang="en-US" sz="1600" b="1" dirty="0">
                <a:solidFill>
                  <a:schemeClr val="tx1"/>
                </a:solidFill>
              </a:rPr>
              <a:t>No cubre: </a:t>
            </a:r>
            <a:pPr indent="0" marL="0">
              <a:buNone/>
            </a:pPr>
            <a:r>
              <a:rPr lang="en-US" sz="1600" dirty="0">
                <a:solidFill>
                  <a:schemeClr val="tx1"/>
                </a:solidFill>
              </a:rPr>
              <a:t>binarios, infraestructura, oleadas ni RBAC por entorno.</a:t>
            </a:r>
            <a:endParaRPr lang="en-US" sz="16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Arquitectura recomendada en cinco capas</a:t>
            </a:r>
            <a:endParaRPr lang="en-US" sz="3400" dirty="0"/>
          </a:p>
        </p:txBody>
      </p:sp>
      <p:sp>
        <p:nvSpPr>
          <p:cNvPr id="4" name="box Instrumentación"/>
          <p:cNvSpPr/>
          <p:nvPr/>
        </p:nvSpPr>
        <p:spPr>
          <a:xfrm>
            <a:off x="548640" y="1645920"/>
            <a:ext cx="2286000" cy="2651760"/>
          </a:xfrm>
          <a:prstGeom prst="roundRect">
            <a:avLst>
              <a:gd name="adj" fmla="val 3200"/>
            </a:avLst>
          </a:prstGeom>
          <a:solidFill>
            <a:schemeClr val="bg2"/>
          </a:solidFill>
          <a:ln w="12700">
            <a:solidFill>
              <a:schemeClr val="accent3"/>
            </a:solidFill>
            <a:prstDash val="solid"/>
          </a:ln>
        </p:spPr>
      </p:sp>
      <p:sp>
        <p:nvSpPr>
          <p:cNvPr id="5" name="Text 2"/>
          <p:cNvSpPr txBox="1"/>
          <p:nvPr/>
        </p:nvSpPr>
        <p:spPr>
          <a:xfrm>
            <a:off x="640080" y="1645920"/>
            <a:ext cx="2103120" cy="2651760"/>
          </a:xfrm>
          <a:prstGeom prst="rect">
            <a:avLst/>
          </a:prstGeom>
          <a:noFill/>
          <a:ln/>
        </p:spPr>
        <p:txBody>
          <a:bodyPr wrap="square" lIns="0" tIns="0" rIns="0" bIns="0" rtlCol="0" anchor="ctr"/>
          <a:lstStyle/>
          <a:p>
            <a:pPr algn="ctr" indent="0" marL="0">
              <a:buNone/>
            </a:pPr>
            <a:r>
              <a:rPr lang="en-US" sz="1800" b="1" dirty="0">
                <a:solidFill>
                  <a:schemeClr val="tx1"/>
                </a:solidFill>
              </a:rPr>
              <a:t>Instrumentación</a:t>
            </a:r>
            <a:endParaRPr lang="en-US" sz="1800" dirty="0"/>
          </a:p>
          <a:p>
            <a:pPr algn="ctr" indent="0" marL="0">
              <a:buNone/>
            </a:pPr>
            <a:r>
              <a:rPr lang="en-US" sz="1400" dirty="0">
                <a:solidFill>
                  <a:schemeClr val="tx1"/>
                </a:solidFill>
              </a:rPr>
              <a:t>SDKs OTel en Java, .NET y Go; bibliotecas Prometheus y exporters</a:t>
            </a:r>
            <a:endParaRPr lang="en-US" sz="1800" dirty="0"/>
          </a:p>
        </p:txBody>
      </p:sp>
      <p:sp>
        <p:nvSpPr>
          <p:cNvPr id="6" name="box Recolección"/>
          <p:cNvSpPr/>
          <p:nvPr/>
        </p:nvSpPr>
        <p:spPr>
          <a:xfrm>
            <a:off x="3200400" y="1645920"/>
            <a:ext cx="2468880" cy="2651760"/>
          </a:xfrm>
          <a:prstGeom prst="roundRect">
            <a:avLst>
              <a:gd name="adj" fmla="val 2963"/>
            </a:avLst>
          </a:prstGeom>
          <a:solidFill>
            <a:schemeClr val="bg2"/>
          </a:solidFill>
          <a:ln w="25400">
            <a:solidFill>
              <a:schemeClr val="accent1"/>
            </a:solidFill>
            <a:prstDash val="solid"/>
          </a:ln>
        </p:spPr>
      </p:sp>
      <p:sp>
        <p:nvSpPr>
          <p:cNvPr id="7" name="Text 4"/>
          <p:cNvSpPr txBox="1"/>
          <p:nvPr/>
        </p:nvSpPr>
        <p:spPr>
          <a:xfrm>
            <a:off x="3291840" y="1645920"/>
            <a:ext cx="2286000" cy="2651760"/>
          </a:xfrm>
          <a:prstGeom prst="rect">
            <a:avLst/>
          </a:prstGeom>
          <a:noFill/>
          <a:ln/>
        </p:spPr>
        <p:txBody>
          <a:bodyPr wrap="square" lIns="0" tIns="0" rIns="0" bIns="0" rtlCol="0" anchor="ctr"/>
          <a:lstStyle/>
          <a:p>
            <a:pPr algn="ctr" indent="0" marL="0">
              <a:buNone/>
            </a:pPr>
            <a:r>
              <a:rPr lang="en-US" sz="1800" b="1" dirty="0">
                <a:solidFill>
                  <a:schemeClr val="tx1"/>
                </a:solidFill>
              </a:rPr>
              <a:t>Recolección</a:t>
            </a:r>
            <a:endParaRPr lang="en-US" sz="1800" dirty="0"/>
          </a:p>
          <a:p>
            <a:pPr algn="ctr" indent="0" marL="0">
              <a:buNone/>
            </a:pPr>
            <a:r>
              <a:rPr lang="en-US" sz="1400" dirty="0">
                <a:solidFill>
                  <a:schemeClr val="tx1"/>
                </a:solidFill>
              </a:rPr>
              <a:t>Alloy motor por defecto: agentes por nodo y VM, scrapers con clustering</a:t>
            </a:r>
            <a:endParaRPr lang="en-US" sz="1800" dirty="0"/>
          </a:p>
        </p:txBody>
      </p:sp>
      <p:sp>
        <p:nvSpPr>
          <p:cNvPr id="8" name="box Procesamiento"/>
          <p:cNvSpPr/>
          <p:nvPr/>
        </p:nvSpPr>
        <p:spPr>
          <a:xfrm>
            <a:off x="6035040" y="1645920"/>
            <a:ext cx="2743200" cy="2651760"/>
          </a:xfrm>
          <a:prstGeom prst="roundRect">
            <a:avLst>
              <a:gd name="adj" fmla="val 2759"/>
            </a:avLst>
          </a:prstGeom>
          <a:solidFill>
            <a:schemeClr val="bg2"/>
          </a:solidFill>
          <a:ln w="12700">
            <a:solidFill>
              <a:schemeClr val="accent3"/>
            </a:solidFill>
            <a:prstDash val="solid"/>
          </a:ln>
        </p:spPr>
      </p:sp>
      <p:sp>
        <p:nvSpPr>
          <p:cNvPr id="9" name="Text 6"/>
          <p:cNvSpPr txBox="1"/>
          <p:nvPr/>
        </p:nvSpPr>
        <p:spPr>
          <a:xfrm>
            <a:off x="6126480" y="1645920"/>
            <a:ext cx="2560320" cy="2651760"/>
          </a:xfrm>
          <a:prstGeom prst="rect">
            <a:avLst/>
          </a:prstGeom>
          <a:noFill/>
          <a:ln/>
        </p:spPr>
        <p:txBody>
          <a:bodyPr wrap="square" lIns="0" tIns="0" rIns="0" bIns="0" rtlCol="0" anchor="ctr"/>
          <a:lstStyle/>
          <a:p>
            <a:pPr algn="ctr" indent="0" marL="0">
              <a:buNone/>
            </a:pPr>
            <a:r>
              <a:rPr lang="en-US" sz="1800" b="1" dirty="0">
                <a:solidFill>
                  <a:schemeClr val="tx1"/>
                </a:solidFill>
              </a:rPr>
              <a:t>Procesamiento</a:t>
            </a:r>
            <a:endParaRPr lang="en-US" sz="1800" dirty="0"/>
          </a:p>
          <a:p>
            <a:pPr algn="ctr" indent="0" marL="0">
              <a:buNone/>
            </a:pPr>
            <a:r>
              <a:rPr lang="en-US" sz="1400" dirty="0">
                <a:solidFill>
                  <a:schemeClr val="tx1"/>
                </a:solidFill>
              </a:rPr>
              <a:t>Trazas: nivel 1 por traceID y nivel 2 con tail sampling. Sin estado: lotes y redacción</a:t>
            </a:r>
            <a:endParaRPr lang="en-US" sz="1800" dirty="0"/>
          </a:p>
        </p:txBody>
      </p:sp>
      <p:sp>
        <p:nvSpPr>
          <p:cNvPr id="10" name="box Grafana Cloud"/>
          <p:cNvSpPr/>
          <p:nvPr/>
        </p:nvSpPr>
        <p:spPr>
          <a:xfrm>
            <a:off x="9144000" y="1645920"/>
            <a:ext cx="2496312" cy="2651760"/>
          </a:xfrm>
          <a:prstGeom prst="roundRect">
            <a:avLst>
              <a:gd name="adj" fmla="val 2930"/>
            </a:avLst>
          </a:prstGeom>
          <a:solidFill>
            <a:schemeClr val="bg2"/>
          </a:solidFill>
          <a:ln w="12700">
            <a:solidFill>
              <a:schemeClr val="accent3"/>
            </a:solidFill>
            <a:prstDash val="solid"/>
          </a:ln>
        </p:spPr>
      </p:sp>
      <p:sp>
        <p:nvSpPr>
          <p:cNvPr id="11" name="Text 8"/>
          <p:cNvSpPr txBox="1"/>
          <p:nvPr/>
        </p:nvSpPr>
        <p:spPr>
          <a:xfrm>
            <a:off x="9235440" y="1645920"/>
            <a:ext cx="2313432" cy="2651760"/>
          </a:xfrm>
          <a:prstGeom prst="rect">
            <a:avLst/>
          </a:prstGeom>
          <a:noFill/>
          <a:ln/>
        </p:spPr>
        <p:txBody>
          <a:bodyPr wrap="square" lIns="0" tIns="0" rIns="0" bIns="0" rtlCol="0" anchor="ctr"/>
          <a:lstStyle/>
          <a:p>
            <a:pPr algn="ctr" indent="0" marL="0">
              <a:buNone/>
            </a:pPr>
            <a:r>
              <a:rPr lang="en-US" sz="1800" b="1" dirty="0">
                <a:solidFill>
                  <a:schemeClr val="tx1"/>
                </a:solidFill>
              </a:rPr>
              <a:t>Grafana Cloud</a:t>
            </a:r>
            <a:endParaRPr lang="en-US" sz="1800" dirty="0"/>
          </a:p>
          <a:p>
            <a:pPr algn="ctr" indent="0" marL="0">
              <a:buNone/>
            </a:pPr>
            <a:r>
              <a:rPr lang="en-US" sz="1400" dirty="0">
                <a:solidFill>
                  <a:schemeClr val="tx1"/>
                </a:solidFill>
              </a:rPr>
              <a:t>Metrics, Logs, Traces, Application Observability, Kubernetes Monitoring</a:t>
            </a:r>
            <a:endParaRPr lang="en-US" sz="1800" dirty="0"/>
          </a:p>
        </p:txBody>
      </p:sp>
      <p:sp>
        <p:nvSpPr>
          <p:cNvPr id="12" name="arrow"/>
          <p:cNvSpPr/>
          <p:nvPr/>
        </p:nvSpPr>
        <p:spPr>
          <a:xfrm>
            <a:off x="2834640" y="2971800"/>
            <a:ext cx="365760" cy="0"/>
          </a:xfrm>
          <a:prstGeom prst="line">
            <a:avLst/>
          </a:prstGeom>
          <a:noFill/>
          <a:ln w="19050">
            <a:solidFill>
              <a:schemeClr val="accent3"/>
            </a:solidFill>
            <a:prstDash val="solid"/>
            <a:tailEnd type="triangle"/>
          </a:ln>
        </p:spPr>
      </p:sp>
      <p:sp>
        <p:nvSpPr>
          <p:cNvPr id="13" name="arrow"/>
          <p:cNvSpPr/>
          <p:nvPr/>
        </p:nvSpPr>
        <p:spPr>
          <a:xfrm>
            <a:off x="5669280" y="2971800"/>
            <a:ext cx="365760" cy="0"/>
          </a:xfrm>
          <a:prstGeom prst="line">
            <a:avLst/>
          </a:prstGeom>
          <a:noFill/>
          <a:ln w="19050">
            <a:solidFill>
              <a:schemeClr val="accent3"/>
            </a:solidFill>
            <a:prstDash val="solid"/>
            <a:tailEnd type="triangle"/>
          </a:ln>
        </p:spPr>
      </p:sp>
      <p:sp>
        <p:nvSpPr>
          <p:cNvPr id="14" name="arrow"/>
          <p:cNvSpPr/>
          <p:nvPr/>
        </p:nvSpPr>
        <p:spPr>
          <a:xfrm>
            <a:off x="8778240" y="2971800"/>
            <a:ext cx="365760" cy="0"/>
          </a:xfrm>
          <a:prstGeom prst="line">
            <a:avLst/>
          </a:prstGeom>
          <a:noFill/>
          <a:ln w="19050">
            <a:solidFill>
              <a:schemeClr val="accent3"/>
            </a:solidFill>
            <a:prstDash val="solid"/>
            <a:tailEnd type="triangle"/>
          </a:ln>
        </p:spPr>
      </p:sp>
      <p:sp>
        <p:nvSpPr>
          <p:cNvPr id="15" name="box Control"/>
          <p:cNvSpPr/>
          <p:nvPr/>
        </p:nvSpPr>
        <p:spPr>
          <a:xfrm>
            <a:off x="548640" y="4754880"/>
            <a:ext cx="11091672" cy="1188720"/>
          </a:xfrm>
          <a:prstGeom prst="roundRect">
            <a:avLst>
              <a:gd name="adj" fmla="val 6154"/>
            </a:avLst>
          </a:prstGeom>
          <a:ln w="12700">
            <a:solidFill>
              <a:schemeClr val="accent3"/>
            </a:solidFill>
            <a:prstDash val="dash"/>
          </a:ln>
        </p:spPr>
      </p:sp>
      <p:sp>
        <p:nvSpPr>
          <p:cNvPr id="16" name="Text 13"/>
          <p:cNvSpPr txBox="1"/>
          <p:nvPr/>
        </p:nvSpPr>
        <p:spPr>
          <a:xfrm>
            <a:off x="640080" y="4754880"/>
            <a:ext cx="10908792" cy="1188720"/>
          </a:xfrm>
          <a:prstGeom prst="rect">
            <a:avLst/>
          </a:prstGeom>
          <a:noFill/>
          <a:ln/>
        </p:spPr>
        <p:txBody>
          <a:bodyPr wrap="square" lIns="0" tIns="0" rIns="0" bIns="0" rtlCol="0" anchor="ctr"/>
          <a:lstStyle/>
          <a:p>
            <a:pPr algn="ctr" indent="0" marL="0">
              <a:buNone/>
            </a:pPr>
            <a:r>
              <a:rPr lang="en-US" sz="1800" b="1" dirty="0">
                <a:solidFill>
                  <a:schemeClr val="tx1"/>
                </a:solidFill>
              </a:rPr>
              <a:t>Control</a:t>
            </a:r>
            <a:endParaRPr lang="en-US" sz="1800" dirty="0"/>
          </a:p>
          <a:p>
            <a:pPr algn="ctr" indent="0" marL="0">
              <a:buNone/>
            </a:pPr>
            <a:r>
              <a:rPr lang="en-US" sz="1400" dirty="0">
                <a:solidFill>
                  <a:schemeClr val="tx1"/>
                </a:solidFill>
              </a:rPr>
              <a:t>Git y CI como fuente de verdad y aprobación · Terraform para tokens, políticas y atributos · Fleet Management distribuye la configuración</a:t>
            </a:r>
            <a:endParaRPr lang="en-US" sz="1800" dirty="0"/>
          </a:p>
        </p:txBody>
      </p:sp>
      <p:sp>
        <p:nvSpPr>
          <p:cNvPr id="17" name="arrow"/>
          <p:cNvSpPr/>
          <p:nvPr/>
        </p:nvSpPr>
        <p:spPr>
          <a:xfrm flipV="1">
            <a:off x="4572000" y="4297680"/>
            <a:ext cx="0" cy="457200"/>
          </a:xfrm>
          <a:prstGeom prst="line">
            <a:avLst/>
          </a:prstGeom>
          <a:noFill/>
          <a:ln w="19050">
            <a:solidFill>
              <a:schemeClr val="accent3"/>
            </a:solidFill>
            <a:prstDash val="dash"/>
            <a:tailEnd type="triangle"/>
          </a:ln>
        </p:spPr>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Opción A y opción B frente a frente</a:t>
            </a:r>
            <a:endParaRPr lang="en-US" sz="3400" dirty="0"/>
          </a:p>
        </p:txBody>
      </p:sp>
      <p:graphicFrame>
        <p:nvGraphicFramePr>
          <p:cNvPr id="6" name="A frente a B"/>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651760"/>
                <a:gridCol w="4206240"/>
                <a:gridCol w="4233672"/>
              </a:tblGrid>
              <a:tr h="621792">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Dimensión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 Contrib</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B: Alloy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Scrape y reparto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Receiver Prometheus (beta) con Target Allocator</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prometheus.scrape con clustering</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Administración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OpAMP con Supervisor; sin guía de Kubernetes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remotecfg; onboarding oficial en Kubernetes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Error en configuración remota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El Supervisor no revierte solo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Vuelve a la última válida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Kubernetes Monitoring</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CPU, memoria, eventos y logs; sin alertas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Funcionalidad completa con alertas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Portabilidad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YAML upstream</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OTLP portable; sintaxis propia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Piezas externas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Operator, Target Allocator, Supervisor</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Helm y Git</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Discovery: seis problemas, no un servicio</a:t>
            </a:r>
            <a:endParaRPr lang="en-US" sz="3400" dirty="0"/>
          </a:p>
        </p:txBody>
      </p:sp>
      <p:sp>
        <p:nvSpPr>
          <p:cNvPr id="4" name="card Service discovery"/>
          <p:cNvSpPr/>
          <p:nvPr/>
        </p:nvSpPr>
        <p:spPr>
          <a:xfrm>
            <a:off x="548640" y="1645920"/>
            <a:ext cx="3566160" cy="2103120"/>
          </a:xfrm>
          <a:prstGeom prst="roundRect">
            <a:avLst>
              <a:gd name="adj" fmla="val 3478"/>
            </a:avLst>
          </a:prstGeom>
          <a:solidFill>
            <a:schemeClr val="bg2"/>
          </a:solidFill>
          <a:ln w="9525">
            <a:solidFill>
              <a:schemeClr val="bg2"/>
            </a:solidFill>
            <a:prstDash val="solid"/>
          </a:ln>
        </p:spPr>
      </p:sp>
      <p:sp>
        <p:nvSpPr>
          <p:cNvPr id="5" name="text Service discovery"/>
          <p:cNvSpPr txBox="1"/>
          <p:nvPr/>
        </p:nvSpPr>
        <p:spPr>
          <a:xfrm>
            <a:off x="731520" y="178308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Service discovery</a:t>
            </a:r>
            <a:endParaRPr lang="en-US" sz="2000" dirty="0"/>
          </a:p>
          <a:p>
            <a:pPr marL="177800" indent="-177800">
              <a:spcAft>
                <a:spcPts val="400"/>
              </a:spcAft>
              <a:buSzPct val="100000"/>
              <a:buChar char="•"/>
            </a:pPr>
            <a:r>
              <a:rPr lang="en-US" sz="1700" dirty="0">
                <a:solidFill>
                  <a:schemeClr val="tx1"/>
                </a:solidFill>
              </a:rPr>
              <a:t>Alloy: discovery.*</a:t>
            </a:r>
            <a:endParaRPr lang="en-US" sz="2000" dirty="0"/>
          </a:p>
          <a:p>
            <a:pPr marL="177800" indent="-177800">
              <a:spcAft>
                <a:spcPts val="400"/>
              </a:spcAft>
              <a:buSzPct val="100000"/>
              <a:buChar char="•"/>
            </a:pPr>
            <a:r>
              <a:rPr lang="en-US" sz="1700" dirty="0">
                <a:solidFill>
                  <a:schemeClr val="tx1"/>
                </a:solidFill>
              </a:rPr>
              <a:t>Contrib: receiver Prometheus</a:t>
            </a:r>
            <a:endParaRPr lang="en-US" sz="2000" dirty="0"/>
          </a:p>
        </p:txBody>
      </p:sp>
      <p:sp>
        <p:nvSpPr>
          <p:cNvPr id="6" name="card Scrape targets"/>
          <p:cNvSpPr/>
          <p:nvPr/>
        </p:nvSpPr>
        <p:spPr>
          <a:xfrm>
            <a:off x="4297680" y="1645920"/>
            <a:ext cx="3566160" cy="2103120"/>
          </a:xfrm>
          <a:prstGeom prst="roundRect">
            <a:avLst>
              <a:gd name="adj" fmla="val 3478"/>
            </a:avLst>
          </a:prstGeom>
          <a:solidFill>
            <a:schemeClr val="bg2"/>
          </a:solidFill>
          <a:ln w="9525">
            <a:solidFill>
              <a:schemeClr val="bg2"/>
            </a:solidFill>
            <a:prstDash val="solid"/>
          </a:ln>
        </p:spPr>
      </p:sp>
      <p:sp>
        <p:nvSpPr>
          <p:cNvPr id="7" name="text Scrape targets"/>
          <p:cNvSpPr txBox="1"/>
          <p:nvPr/>
        </p:nvSpPr>
        <p:spPr>
          <a:xfrm>
            <a:off x="4480560" y="178308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Scrape targets</a:t>
            </a:r>
            <a:endParaRPr lang="en-US" sz="2000" dirty="0"/>
          </a:p>
          <a:p>
            <a:pPr marL="177800" indent="-177800">
              <a:spcAft>
                <a:spcPts val="400"/>
              </a:spcAft>
              <a:buSzPct val="100000"/>
              <a:buChar char="•"/>
            </a:pPr>
            <a:r>
              <a:rPr lang="en-US" sz="1700" dirty="0">
                <a:solidFill>
                  <a:schemeClr val="tx1"/>
                </a:solidFill>
              </a:rPr>
              <a:t>Alloy: prometheus.operator.*</a:t>
            </a:r>
            <a:endParaRPr lang="en-US" sz="2000" dirty="0"/>
          </a:p>
          <a:p>
            <a:pPr marL="177800" indent="-177800">
              <a:spcAft>
                <a:spcPts val="400"/>
              </a:spcAft>
              <a:buSzPct val="100000"/>
              <a:buChar char="•"/>
            </a:pPr>
            <a:r>
              <a:rPr lang="en-US" sz="1700" dirty="0">
                <a:solidFill>
                  <a:schemeClr val="tx1"/>
                </a:solidFill>
              </a:rPr>
              <a:t>Contrib: Target Allocator</a:t>
            </a:r>
            <a:endParaRPr lang="en-US" sz="2000" dirty="0"/>
          </a:p>
        </p:txBody>
      </p:sp>
      <p:sp>
        <p:nvSpPr>
          <p:cNvPr id="8" name="card Collector discovery"/>
          <p:cNvSpPr/>
          <p:nvPr/>
        </p:nvSpPr>
        <p:spPr>
          <a:xfrm>
            <a:off x="8046720" y="1645920"/>
            <a:ext cx="3566160" cy="2103120"/>
          </a:xfrm>
          <a:prstGeom prst="roundRect">
            <a:avLst>
              <a:gd name="adj" fmla="val 3478"/>
            </a:avLst>
          </a:prstGeom>
          <a:solidFill>
            <a:schemeClr val="bg2"/>
          </a:solidFill>
          <a:ln w="9525">
            <a:solidFill>
              <a:schemeClr val="bg2"/>
            </a:solidFill>
            <a:prstDash val="solid"/>
          </a:ln>
        </p:spPr>
      </p:sp>
      <p:sp>
        <p:nvSpPr>
          <p:cNvPr id="9" name="text Collector discovery"/>
          <p:cNvSpPr txBox="1"/>
          <p:nvPr/>
        </p:nvSpPr>
        <p:spPr>
          <a:xfrm>
            <a:off x="8229600" y="178308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Collector discovery</a:t>
            </a:r>
            <a:endParaRPr lang="en-US" sz="2000" dirty="0"/>
          </a:p>
          <a:p>
            <a:pPr marL="177800" indent="-177800">
              <a:spcAft>
                <a:spcPts val="400"/>
              </a:spcAft>
              <a:buSzPct val="100000"/>
              <a:buChar char="•"/>
            </a:pPr>
            <a:r>
              <a:rPr lang="en-US" sz="1700" dirty="0">
                <a:solidFill>
                  <a:schemeClr val="tx1"/>
                </a:solidFill>
              </a:rPr>
              <a:t>Alloy: resolvers del balanceador</a:t>
            </a:r>
            <a:endParaRPr lang="en-US" sz="2000" dirty="0"/>
          </a:p>
          <a:p>
            <a:pPr marL="177800" indent="-177800">
              <a:spcAft>
                <a:spcPts val="400"/>
              </a:spcAft>
              <a:buSzPct val="100000"/>
              <a:buChar char="•"/>
            </a:pPr>
            <a:r>
              <a:rPr lang="en-US" sz="1700" dirty="0">
                <a:solidFill>
                  <a:schemeClr val="tx1"/>
                </a:solidFill>
              </a:rPr>
              <a:t>Contrib: resolvers de load_balancing</a:t>
            </a:r>
            <a:endParaRPr lang="en-US" sz="2000" dirty="0"/>
          </a:p>
        </p:txBody>
      </p:sp>
      <p:sp>
        <p:nvSpPr>
          <p:cNvPr id="10" name="card Endpoint discovery"/>
          <p:cNvSpPr/>
          <p:nvPr/>
        </p:nvSpPr>
        <p:spPr>
          <a:xfrm>
            <a:off x="548640" y="3977640"/>
            <a:ext cx="3566160" cy="2103120"/>
          </a:xfrm>
          <a:prstGeom prst="roundRect">
            <a:avLst>
              <a:gd name="adj" fmla="val 3478"/>
            </a:avLst>
          </a:prstGeom>
          <a:solidFill>
            <a:schemeClr val="bg2"/>
          </a:solidFill>
          <a:ln w="9525">
            <a:solidFill>
              <a:schemeClr val="bg2"/>
            </a:solidFill>
            <a:prstDash val="solid"/>
          </a:ln>
        </p:spPr>
      </p:sp>
      <p:sp>
        <p:nvSpPr>
          <p:cNvPr id="11" name="text Endpoint discovery"/>
          <p:cNvSpPr txBox="1"/>
          <p:nvPr/>
        </p:nvSpPr>
        <p:spPr>
          <a:xfrm>
            <a:off x="731520" y="411480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Endpoint discovery</a:t>
            </a:r>
            <a:endParaRPr lang="en-US" sz="2000" dirty="0"/>
          </a:p>
          <a:p>
            <a:pPr marL="177800" indent="-177800">
              <a:spcAft>
                <a:spcPts val="400"/>
              </a:spcAft>
              <a:buSzPct val="100000"/>
              <a:buChar char="•"/>
            </a:pPr>
            <a:r>
              <a:rPr lang="en-US" sz="1700" dirty="0">
                <a:solidFill>
                  <a:schemeClr val="tx1"/>
                </a:solidFill>
              </a:rPr>
              <a:t>Alloy: dns y kubernetes</a:t>
            </a:r>
            <a:endParaRPr lang="en-US" sz="2000" dirty="0"/>
          </a:p>
          <a:p>
            <a:pPr marL="177800" indent="-177800">
              <a:spcAft>
                <a:spcPts val="400"/>
              </a:spcAft>
              <a:buSzPct val="100000"/>
              <a:buChar char="•"/>
            </a:pPr>
            <a:r>
              <a:rPr lang="en-US" sz="1700" dirty="0">
                <a:solidFill>
                  <a:schemeClr val="tx1"/>
                </a:solidFill>
              </a:rPr>
              <a:t>Contrib: dns y k8s</a:t>
            </a:r>
            <a:endParaRPr lang="en-US" sz="2000" dirty="0"/>
          </a:p>
        </p:txBody>
      </p:sp>
      <p:sp>
        <p:nvSpPr>
          <p:cNvPr id="12" name="card Clustering"/>
          <p:cNvSpPr/>
          <p:nvPr/>
        </p:nvSpPr>
        <p:spPr>
          <a:xfrm>
            <a:off x="4297680" y="3977640"/>
            <a:ext cx="3566160" cy="2103120"/>
          </a:xfrm>
          <a:prstGeom prst="roundRect">
            <a:avLst>
              <a:gd name="adj" fmla="val 3478"/>
            </a:avLst>
          </a:prstGeom>
          <a:solidFill>
            <a:schemeClr val="bg2"/>
          </a:solidFill>
          <a:ln w="9525">
            <a:solidFill>
              <a:schemeClr val="bg2"/>
            </a:solidFill>
            <a:prstDash val="solid"/>
          </a:ln>
        </p:spPr>
      </p:sp>
      <p:sp>
        <p:nvSpPr>
          <p:cNvPr id="13" name="text Clustering"/>
          <p:cNvSpPr txBox="1"/>
          <p:nvPr/>
        </p:nvSpPr>
        <p:spPr>
          <a:xfrm>
            <a:off x="4480560" y="411480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Clustering</a:t>
            </a:r>
            <a:endParaRPr lang="en-US" sz="2000" dirty="0"/>
          </a:p>
          <a:p>
            <a:pPr marL="177800" indent="-177800">
              <a:spcAft>
                <a:spcPts val="400"/>
              </a:spcAft>
              <a:buSzPct val="100000"/>
              <a:buChar char="•"/>
            </a:pPr>
            <a:r>
              <a:rPr lang="en-US" sz="1700" dirty="0">
                <a:solidFill>
                  <a:schemeClr val="tx1"/>
                </a:solidFill>
              </a:rPr>
              <a:t>Alloy: nativo, por componente</a:t>
            </a:r>
            <a:endParaRPr lang="en-US" sz="2000" dirty="0"/>
          </a:p>
          <a:p>
            <a:pPr marL="177800" indent="-177800">
              <a:spcAft>
                <a:spcPts val="400"/>
              </a:spcAft>
              <a:buSzPct val="100000"/>
              <a:buChar char="•"/>
            </a:pPr>
            <a:r>
              <a:rPr lang="en-US" sz="1700" dirty="0">
                <a:solidFill>
                  <a:schemeClr val="tx1"/>
                </a:solidFill>
              </a:rPr>
              <a:t>Contrib: no existe</a:t>
            </a:r>
            <a:endParaRPr lang="en-US" sz="2000" dirty="0"/>
          </a:p>
        </p:txBody>
      </p:sp>
      <p:sp>
        <p:nvSpPr>
          <p:cNvPr id="14" name="card Asignación de targets"/>
          <p:cNvSpPr/>
          <p:nvPr/>
        </p:nvSpPr>
        <p:spPr>
          <a:xfrm>
            <a:off x="8046720" y="3977640"/>
            <a:ext cx="3566160" cy="2103120"/>
          </a:xfrm>
          <a:prstGeom prst="roundRect">
            <a:avLst>
              <a:gd name="adj" fmla="val 3478"/>
            </a:avLst>
          </a:prstGeom>
          <a:solidFill>
            <a:schemeClr val="bg2"/>
          </a:solidFill>
          <a:ln w="9525">
            <a:solidFill>
              <a:schemeClr val="bg2"/>
            </a:solidFill>
            <a:prstDash val="solid"/>
          </a:ln>
        </p:spPr>
      </p:sp>
      <p:sp>
        <p:nvSpPr>
          <p:cNvPr id="15" name="text Asignación de targets"/>
          <p:cNvSpPr txBox="1"/>
          <p:nvPr/>
        </p:nvSpPr>
        <p:spPr>
          <a:xfrm>
            <a:off x="8229600" y="4114800"/>
            <a:ext cx="3200400" cy="1828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Asignación de targets</a:t>
            </a:r>
            <a:endParaRPr lang="en-US" sz="2000" dirty="0"/>
          </a:p>
          <a:p>
            <a:pPr marL="177800" indent="-177800">
              <a:spcAft>
                <a:spcPts val="400"/>
              </a:spcAft>
              <a:buSzPct val="100000"/>
              <a:buChar char="•"/>
            </a:pPr>
            <a:r>
              <a:rPr lang="en-US" sz="1700" dirty="0">
                <a:solidFill>
                  <a:schemeClr val="tx1"/>
                </a:solidFill>
              </a:rPr>
              <a:t>Alloy: hashing consistente</a:t>
            </a:r>
            <a:endParaRPr lang="en-US" sz="2000" dirty="0"/>
          </a:p>
          <a:p>
            <a:pPr marL="177800" indent="-177800">
              <a:spcAft>
                <a:spcPts val="400"/>
              </a:spcAft>
              <a:buSzPct val="100000"/>
              <a:buChar char="•"/>
            </a:pPr>
            <a:r>
              <a:rPr lang="en-US" sz="1700" dirty="0">
                <a:solidFill>
                  <a:schemeClr val="tx1"/>
                </a:solidFill>
              </a:rPr>
              <a:t>Contrib: Target Allocator</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Métricas de infraestructura: tres patrones</a:t>
            </a:r>
            <a:endParaRPr lang="en-US" sz="3400" dirty="0"/>
          </a:p>
        </p:txBody>
      </p:sp>
      <p:sp>
        <p:nvSpPr>
          <p:cNvPr id="4" name="card Patrón 1"/>
          <p:cNvSpPr/>
          <p:nvPr/>
        </p:nvSpPr>
        <p:spPr>
          <a:xfrm>
            <a:off x="548640" y="1600200"/>
            <a:ext cx="3566160" cy="3108960"/>
          </a:xfrm>
          <a:prstGeom prst="roundRect">
            <a:avLst>
              <a:gd name="adj" fmla="val 2353"/>
            </a:avLst>
          </a:prstGeom>
          <a:solidFill>
            <a:schemeClr val="bg2"/>
          </a:solidFill>
          <a:ln w="9525">
            <a:solidFill>
              <a:schemeClr val="bg2"/>
            </a:solidFill>
            <a:prstDash val="solid"/>
          </a:ln>
        </p:spPr>
      </p:sp>
      <p:sp>
        <p:nvSpPr>
          <p:cNvPr id="5" name="text Patrón 1"/>
          <p:cNvSpPr txBox="1"/>
          <p:nvPr/>
        </p:nvSpPr>
        <p:spPr>
          <a:xfrm>
            <a:off x="731520" y="1737360"/>
            <a:ext cx="3200400" cy="28346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Patrón 1</a:t>
            </a:r>
            <a:endParaRPr lang="en-US" sz="2000" dirty="0"/>
          </a:p>
          <a:p>
            <a:pPr marL="177800" indent="-177800">
              <a:spcAft>
                <a:spcPts val="400"/>
              </a:spcAft>
              <a:buSzPct val="100000"/>
              <a:buChar char="•"/>
            </a:pPr>
            <a:r>
              <a:rPr lang="en-US" sz="1700" dirty="0">
                <a:solidFill>
                  <a:schemeClr val="tx1"/>
                </a:solidFill>
              </a:rPr>
              <a:t>El Collector raspa con su receiver</a:t>
            </a:r>
            <a:endParaRPr lang="en-US" sz="2000" dirty="0"/>
          </a:p>
          <a:p>
            <a:pPr marL="177800" indent="-177800">
              <a:spcAft>
                <a:spcPts val="400"/>
              </a:spcAft>
              <a:buSzPct val="100000"/>
              <a:buChar char="•"/>
            </a:pPr>
            <a:r>
              <a:rPr lang="en-US" sz="1700" dirty="0">
                <a:solidFill>
                  <a:schemeClr val="tx1"/>
                </a:solidFill>
              </a:rPr>
              <a:t>Con Target Allocator en Kubernetes</a:t>
            </a:r>
            <a:endParaRPr lang="en-US" sz="2000" dirty="0"/>
          </a:p>
          <a:p>
            <a:pPr marL="177800" indent="-177800">
              <a:spcAft>
                <a:spcPts val="400"/>
              </a:spcAft>
              <a:buSzPct val="100000"/>
              <a:buChar char="•"/>
            </a:pPr>
            <a:r>
              <a:rPr lang="en-US" sz="1700" dirty="0">
                <a:solidFill>
                  <a:schemeClr val="tx1"/>
                </a:solidFill>
              </a:rPr>
              <a:t>Etiquetas pasan por OTLP</a:t>
            </a:r>
            <a:endParaRPr lang="en-US" sz="2000" dirty="0"/>
          </a:p>
        </p:txBody>
      </p:sp>
      <p:sp>
        <p:nvSpPr>
          <p:cNvPr id="6" name="card Patrón 2"/>
          <p:cNvSpPr/>
          <p:nvPr/>
        </p:nvSpPr>
        <p:spPr>
          <a:xfrm>
            <a:off x="4297680" y="1600200"/>
            <a:ext cx="3566160" cy="3108960"/>
          </a:xfrm>
          <a:prstGeom prst="roundRect">
            <a:avLst>
              <a:gd name="adj" fmla="val 2353"/>
            </a:avLst>
          </a:prstGeom>
          <a:solidFill>
            <a:schemeClr val="bg2"/>
          </a:solidFill>
          <a:ln w="9525">
            <a:solidFill>
              <a:schemeClr val="accent1"/>
            </a:solidFill>
            <a:prstDash val="solid"/>
          </a:ln>
        </p:spPr>
      </p:sp>
      <p:sp>
        <p:nvSpPr>
          <p:cNvPr id="7" name="text Patrón 2"/>
          <p:cNvSpPr txBox="1"/>
          <p:nvPr/>
        </p:nvSpPr>
        <p:spPr>
          <a:xfrm>
            <a:off x="4480560" y="1737360"/>
            <a:ext cx="3200400" cy="28346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Patrón 2</a:t>
            </a:r>
            <a:endParaRPr lang="en-US" sz="2000" dirty="0"/>
          </a:p>
          <a:p>
            <a:pPr marL="177800" indent="-177800">
              <a:spcAft>
                <a:spcPts val="400"/>
              </a:spcAft>
              <a:buSzPct val="100000"/>
              <a:buChar char="•"/>
            </a:pPr>
            <a:r>
              <a:rPr lang="en-US" sz="1700" dirty="0">
                <a:solidFill>
                  <a:schemeClr val="tx1"/>
                </a:solidFill>
              </a:rPr>
              <a:t>Componente dedicado raspa y entrega</a:t>
            </a:r>
            <a:endParaRPr lang="en-US" sz="2000" dirty="0"/>
          </a:p>
          <a:p>
            <a:pPr marL="177800" indent="-177800">
              <a:spcAft>
                <a:spcPts val="400"/>
              </a:spcAft>
              <a:buSzPct val="100000"/>
              <a:buChar char="•"/>
            </a:pPr>
            <a:r>
              <a:rPr lang="en-US" sz="1700" dirty="0">
                <a:solidFill>
                  <a:schemeClr val="tx1"/>
                </a:solidFill>
              </a:rPr>
              <a:t>Prometheus agente o prometheus.scrape</a:t>
            </a:r>
            <a:endParaRPr lang="en-US" sz="2000" dirty="0"/>
          </a:p>
          <a:p>
            <a:pPr marL="177800" indent="-177800">
              <a:spcAft>
                <a:spcPts val="400"/>
              </a:spcAft>
              <a:buSzPct val="100000"/>
              <a:buChar char="•"/>
            </a:pPr>
            <a:r>
              <a:rPr lang="en-US" sz="1700" dirty="0">
                <a:solidFill>
                  <a:schemeClr val="tx1"/>
                </a:solidFill>
              </a:rPr>
              <a:t>Remote write con etiquetas intactas</a:t>
            </a:r>
            <a:endParaRPr lang="en-US" sz="2000" dirty="0"/>
          </a:p>
        </p:txBody>
      </p:sp>
      <p:sp>
        <p:nvSpPr>
          <p:cNvPr id="8" name="card Patrón 3"/>
          <p:cNvSpPr/>
          <p:nvPr/>
        </p:nvSpPr>
        <p:spPr>
          <a:xfrm>
            <a:off x="8046720" y="1600200"/>
            <a:ext cx="3593592" cy="3108960"/>
          </a:xfrm>
          <a:prstGeom prst="roundRect">
            <a:avLst>
              <a:gd name="adj" fmla="val 2353"/>
            </a:avLst>
          </a:prstGeom>
          <a:solidFill>
            <a:schemeClr val="bg2"/>
          </a:solidFill>
          <a:ln w="9525">
            <a:solidFill>
              <a:schemeClr val="bg2"/>
            </a:solidFill>
            <a:prstDash val="solid"/>
          </a:ln>
        </p:spPr>
      </p:sp>
      <p:sp>
        <p:nvSpPr>
          <p:cNvPr id="9" name="text Patrón 3"/>
          <p:cNvSpPr txBox="1"/>
          <p:nvPr/>
        </p:nvSpPr>
        <p:spPr>
          <a:xfrm>
            <a:off x="8229600" y="1737360"/>
            <a:ext cx="3227832" cy="28346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Patrón 3</a:t>
            </a:r>
            <a:endParaRPr lang="en-US" sz="2000" dirty="0"/>
          </a:p>
          <a:p>
            <a:pPr marL="177800" indent="-177800">
              <a:spcAft>
                <a:spcPts val="400"/>
              </a:spcAft>
              <a:buSzPct val="100000"/>
              <a:buChar char="•"/>
            </a:pPr>
            <a:r>
              <a:rPr lang="en-US" sz="1700" dirty="0">
                <a:solidFill>
                  <a:schemeClr val="tx1"/>
                </a:solidFill>
              </a:rPr>
              <a:t>Híbrido: agentes locales y tier central</a:t>
            </a:r>
            <a:endParaRPr lang="en-US" sz="2000" dirty="0"/>
          </a:p>
          <a:p>
            <a:pPr marL="177800" indent="-177800">
              <a:spcAft>
                <a:spcPts val="400"/>
              </a:spcAft>
              <a:buSzPct val="100000"/>
              <a:buChar char="•"/>
            </a:pPr>
            <a:r>
              <a:rPr lang="en-US" sz="1700" dirty="0">
                <a:solidFill>
                  <a:schemeClr val="tx1"/>
                </a:solidFill>
              </a:rPr>
              <a:t>Gateway sin estado para filtros</a:t>
            </a:r>
            <a:endParaRPr lang="en-US" sz="2000" dirty="0"/>
          </a:p>
          <a:p>
            <a:pPr marL="177800" indent="-177800">
              <a:spcAft>
                <a:spcPts val="400"/>
              </a:spcAft>
              <a:buSzPct val="100000"/>
              <a:buChar char="•"/>
            </a:pPr>
            <a:r>
              <a:rPr lang="en-US" sz="1700" dirty="0">
                <a:solidFill>
                  <a:schemeClr val="tx1"/>
                </a:solidFill>
              </a:rPr>
              <a:t>Dos puntos de control de cardinalidad</a:t>
            </a:r>
            <a:endParaRPr lang="en-US" sz="2000" dirty="0"/>
          </a:p>
        </p:txBody>
      </p:sp>
      <p:sp>
        <p:nvSpPr>
          <p:cNvPr id="10" name="recomendación"/>
          <p:cNvSpPr/>
          <p:nvPr/>
        </p:nvSpPr>
        <p:spPr>
          <a:xfrm>
            <a:off x="548640" y="4983480"/>
            <a:ext cx="11091672" cy="1188720"/>
          </a:xfrm>
          <a:prstGeom prst="roundRect">
            <a:avLst>
              <a:gd name="adj" fmla="val 6154"/>
            </a:avLst>
          </a:prstGeom>
          <a:solidFill>
            <a:schemeClr val="tx2"/>
          </a:solidFill>
          <a:ln w="6350">
            <a:solidFill>
              <a:schemeClr val="tx2"/>
            </a:solidFill>
            <a:prstDash val="solid"/>
          </a:ln>
        </p:spPr>
      </p:sp>
      <p:sp>
        <p:nvSpPr>
          <p:cNvPr id="11" name="Text 8"/>
          <p:cNvSpPr txBox="1"/>
          <p:nvPr/>
        </p:nvSpPr>
        <p:spPr>
          <a:xfrm>
            <a:off x="777240" y="5029200"/>
            <a:ext cx="10607040" cy="1097280"/>
          </a:xfrm>
          <a:prstGeom prst="rect">
            <a:avLst/>
          </a:prstGeom>
          <a:noFill/>
          <a:ln/>
        </p:spPr>
        <p:txBody>
          <a:bodyPr wrap="square" lIns="0" tIns="0" rIns="0" bIns="0" rtlCol="0" anchor="ctr"/>
          <a:lstStyle/>
          <a:p>
            <a:pPr indent="0" marL="0">
              <a:buNone/>
            </a:pPr>
            <a:r>
              <a:rPr lang="en-US" sz="1600" b="1" dirty="0">
                <a:solidFill>
                  <a:schemeClr val="bg1"/>
                </a:solidFill>
              </a:rPr>
              <a:t>Recomendación: </a:t>
            </a:r>
            <a:pPr indent="0" marL="0">
              <a:buNone/>
            </a:pPr>
            <a:r>
              <a:rPr lang="en-US" sz="1600" dirty="0">
                <a:solidFill>
                  <a:schemeClr val="bg1"/>
                </a:solidFill>
              </a:rPr>
              <a:t>Alloy con clustering y remote write. Alternativa: Prometheus en modo agente por clúster. Solo OTel: receiver beta, Target Allocator y trabajo extra de 12 a 20 días-persona.</a:t>
            </a:r>
            <a:endParaRPr lang="en-US" sz="16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OTLP por defecto, Prometheus donde ya está</a:t>
            </a:r>
            <a:endParaRPr lang="en-US" sz="3400" dirty="0"/>
          </a:p>
        </p:txBody>
      </p:sp>
      <p:graphicFrame>
        <p:nvGraphicFramePr>
          <p:cNvPr id="9" name="Decisión de instrumentación"/>
          <p:cNvGraphicFramePr>
            <a:graphicFrameLocks noGrp="1"/>
          </p:cNvGraphicFramePr>
          <p:nvPr>
            <p:extLst>
              <p:ext uri="{D42A27DB-BD31-4B8C-83A1-F6EECF244321}">
                <p14:modId xmlns:p14="http://schemas.microsoft.com/office/powerpoint/2010/main" val="1579011935"/>
              </p:ext>
            </p:extLst>
          </p:nvPr>
        </p:nvGraphicFramePr>
        <p:xfrm>
          <a:off x="548640" y="1600200"/>
          <a:ext cx="7040880" cy="914400"/>
        </p:xfrm>
        <a:graphic>
          <a:graphicData uri="http://schemas.openxmlformats.org/drawingml/2006/table">
            <a:tbl>
              <a:tblPr/>
              <a:tblGrid>
                <a:gridCol w="4023360"/>
                <a:gridCol w="3017520"/>
              </a:tblGrid>
              <a:tr h="73152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Situación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Elección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7315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Aplicación nueva en Java, .NET o Go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OTLP para trazas, métricas y logs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315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Aplicación con métricas Prometheus estables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Conservar Prometheus y añadir trazas OTel</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7315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Infraestructura, bases de datos, balanceadores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Prometheus exporters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3152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Correlación completa entre señales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OTLP de extremo a extremo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5" name="card Lo que exige Application Observability"/>
          <p:cNvSpPr/>
          <p:nvPr/>
        </p:nvSpPr>
        <p:spPr>
          <a:xfrm>
            <a:off x="7863840" y="1600200"/>
            <a:ext cx="3776472" cy="3200400"/>
          </a:xfrm>
          <a:prstGeom prst="roundRect">
            <a:avLst>
              <a:gd name="adj" fmla="val 2286"/>
            </a:avLst>
          </a:prstGeom>
          <a:solidFill>
            <a:schemeClr val="bg2"/>
          </a:solidFill>
          <a:ln w="9525">
            <a:solidFill>
              <a:schemeClr val="bg2"/>
            </a:solidFill>
            <a:prstDash val="solid"/>
          </a:ln>
        </p:spPr>
      </p:sp>
      <p:sp>
        <p:nvSpPr>
          <p:cNvPr id="6" name="text Lo que exige Application Observability"/>
          <p:cNvSpPr txBox="1"/>
          <p:nvPr/>
        </p:nvSpPr>
        <p:spPr>
          <a:xfrm>
            <a:off x="8046720" y="1737360"/>
            <a:ext cx="3410712" cy="29260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Lo que exige Application Observability</a:t>
            </a:r>
            <a:endParaRPr lang="en-US" sz="2000" dirty="0"/>
          </a:p>
          <a:p>
            <a:pPr marL="177800" indent="-177800">
              <a:spcAft>
                <a:spcPts val="400"/>
              </a:spcAft>
              <a:buSzPct val="100000"/>
              <a:buChar char="•"/>
            </a:pPr>
            <a:r>
              <a:rPr lang="en-US" sz="1700" dirty="0">
                <a:solidFill>
                  <a:schemeClr val="tx1"/>
                </a:solidFill>
              </a:rPr>
              <a:t>job = namespace/nombre</a:t>
            </a:r>
            <a:endParaRPr lang="en-US" sz="2000" dirty="0"/>
          </a:p>
          <a:p>
            <a:pPr marL="177800" indent="-177800">
              <a:spcAft>
                <a:spcPts val="400"/>
              </a:spcAft>
              <a:buSzPct val="100000"/>
              <a:buChar char="•"/>
            </a:pPr>
            <a:r>
              <a:rPr lang="en-US" sz="1700" dirty="0">
                <a:solidFill>
                  <a:schemeClr val="tx1"/>
                </a:solidFill>
              </a:rPr>
              <a:t>deployment_environment</a:t>
            </a:r>
            <a:endParaRPr lang="en-US" sz="2000" dirty="0"/>
          </a:p>
          <a:p>
            <a:pPr marL="177800" indent="-177800">
              <a:spcAft>
                <a:spcPts val="400"/>
              </a:spcAft>
              <a:buSzPct val="100000"/>
              <a:buChar char="•"/>
            </a:pPr>
            <a:r>
              <a:rPr lang="en-US" sz="1700" dirty="0">
                <a:solidFill>
                  <a:schemeClr val="tx1"/>
                </a:solidFill>
              </a:rPr>
              <a:t>RED desde trazas, no desde métricas sueltas</a:t>
            </a:r>
            <a:endParaRPr lang="en-US" sz="2000" dirty="0"/>
          </a:p>
        </p:txBody>
      </p:sp>
      <p:sp>
        <p:nvSpPr>
          <p:cNvPr id="7" name="Text 3"/>
          <p:cNvSpPr txBox="1"/>
          <p:nvPr/>
        </p:nvSpPr>
        <p:spPr>
          <a:xfrm>
            <a:off x="548640" y="5760720"/>
            <a:ext cx="11064240" cy="457200"/>
          </a:xfrm>
          <a:prstGeom prst="rect">
            <a:avLst/>
          </a:prstGeom>
          <a:noFill/>
          <a:ln/>
        </p:spPr>
        <p:txBody>
          <a:bodyPr wrap="square" lIns="0" tIns="0" rIns="0" bIns="0" rtlCol="0" anchor="ctr"/>
          <a:lstStyle/>
          <a:p>
            <a:pPr indent="0" marL="0">
              <a:buNone/>
            </a:pPr>
            <a:r>
              <a:rPr lang="en-US" sz="1400" i="1" dirty="0">
                <a:solidFill>
                  <a:schemeClr val="accent3"/>
                </a:solidFill>
              </a:rPr>
              <a:t>Validar versiones de SDK y de agente por lenguaje antes de comprometer el alcance.</a:t>
            </a:r>
            <a:endParaRPr lang="en-US" sz="14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Logs: solo Alloy tiene soporte de Grafana</a:t>
            </a:r>
            <a:endParaRPr lang="en-US" sz="3400" dirty="0"/>
          </a:p>
        </p:txBody>
      </p:sp>
      <p:sp>
        <p:nvSpPr>
          <p:cNvPr id="4" name="card Soporte de cliente en Loki"/>
          <p:cNvSpPr/>
          <p:nvPr/>
        </p:nvSpPr>
        <p:spPr>
          <a:xfrm>
            <a:off x="548640" y="1600200"/>
            <a:ext cx="4114800" cy="4206240"/>
          </a:xfrm>
          <a:prstGeom prst="roundRect">
            <a:avLst>
              <a:gd name="adj" fmla="val 1778"/>
            </a:avLst>
          </a:prstGeom>
          <a:solidFill>
            <a:schemeClr val="bg2"/>
          </a:solidFill>
          <a:ln w="9525">
            <a:solidFill>
              <a:schemeClr val="bg2"/>
            </a:solidFill>
            <a:prstDash val="solid"/>
          </a:ln>
        </p:spPr>
      </p:sp>
      <p:sp>
        <p:nvSpPr>
          <p:cNvPr id="5" name="text Soporte de cliente en Loki"/>
          <p:cNvSpPr txBox="1"/>
          <p:nvPr/>
        </p:nvSpPr>
        <p:spPr>
          <a:xfrm>
            <a:off x="731520" y="1737360"/>
            <a:ext cx="3749040" cy="39319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Soporte de cliente en Loki</a:t>
            </a:r>
            <a:endParaRPr lang="en-US" sz="2000" dirty="0"/>
          </a:p>
          <a:p>
            <a:pPr marL="177800" indent="-177800">
              <a:spcAft>
                <a:spcPts val="400"/>
              </a:spcAft>
              <a:buSzPct val="100000"/>
              <a:buChar char="•"/>
            </a:pPr>
            <a:r>
              <a:rPr lang="en-US" sz="1700" dirty="0">
                <a:solidFill>
                  <a:schemeClr val="tx1"/>
                </a:solidFill>
              </a:rPr>
              <a:t>Soportado por Grafana: Alloy</a:t>
            </a:r>
            <a:endParaRPr lang="en-US" sz="2000" dirty="0"/>
          </a:p>
          <a:p>
            <a:pPr marL="177800" indent="-177800">
              <a:spcAft>
                <a:spcPts val="400"/>
              </a:spcAft>
              <a:buSzPct val="100000"/>
              <a:buChar char="•"/>
            </a:pPr>
            <a:r>
              <a:rPr lang="en-US" sz="1700" dirty="0">
                <a:solidFill>
                  <a:schemeClr val="tx1"/>
                </a:solidFill>
              </a:rPr>
              <a:t>Comunitarios: Logstash, Fluent Bit, Fluentd</a:t>
            </a:r>
            <a:endParaRPr lang="en-US" sz="2000" dirty="0"/>
          </a:p>
          <a:p>
            <a:pPr marL="177800" indent="-177800">
              <a:spcAft>
                <a:spcPts val="400"/>
              </a:spcAft>
              <a:buSzPct val="100000"/>
              <a:buChar char="•"/>
            </a:pPr>
            <a:r>
              <a:rPr lang="en-US" sz="1700" dirty="0">
                <a:solidFill>
                  <a:schemeClr val="tx1"/>
                </a:solidFill>
              </a:rPr>
              <a:t>Terceros: Vector</a:t>
            </a:r>
            <a:endParaRPr lang="en-US" sz="2000" dirty="0"/>
          </a:p>
          <a:p>
            <a:pPr marL="177800" indent="-177800">
              <a:spcAft>
                <a:spcPts val="400"/>
              </a:spcAft>
              <a:buSzPct val="100000"/>
              <a:buChar char="•"/>
            </a:pPr>
            <a:r>
              <a:rPr lang="en-US" sz="1700" dirty="0">
                <a:solidFill>
                  <a:schemeClr val="tx1"/>
                </a:solidFill>
              </a:rPr>
              <a:t>Sin benchmarks comparables entre ellos</a:t>
            </a:r>
            <a:endParaRPr lang="en-US" sz="2000" dirty="0"/>
          </a:p>
        </p:txBody>
      </p:sp>
      <p:graphicFrame>
        <p:nvGraphicFramePr>
          <p:cNvPr id="10" name="Decisión de logs"/>
          <p:cNvGraphicFramePr>
            <a:graphicFrameLocks noGrp="1"/>
          </p:cNvGraphicFramePr>
          <p:nvPr>
            <p:extLst>
              <p:ext uri="{D42A27DB-BD31-4B8C-83A1-F6EECF244321}">
                <p14:modId xmlns:p14="http://schemas.microsoft.com/office/powerpoint/2010/main" val="1579011935"/>
              </p:ext>
            </p:extLst>
          </p:nvPr>
        </p:nvGraphicFramePr>
        <p:xfrm>
          <a:off x="4937760" y="1600200"/>
          <a:ext cx="6702552" cy="914400"/>
        </p:xfrm>
        <a:graphic>
          <a:graphicData uri="http://schemas.openxmlformats.org/drawingml/2006/table">
            <a:tbl>
              <a:tblPr/>
              <a:tblGrid>
                <a:gridCol w="3200400"/>
                <a:gridCol w="3502152"/>
              </a:tblGrid>
              <a:tr h="7772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Caso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Decisión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7772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Pipelines grok y salidas múltiples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Conservar Logstash, enviar a Alloy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772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Archivos y Kubernetes hacia Loki</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Migrar a Alloy con WAL</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7772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Logs OTLP con trace_id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OTLP al agente y a Grafana Cloud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772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Nodos de borde pequeños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Fluent Bit hacia un gateway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4937760" y="5852160"/>
            <a:ext cx="6675120" cy="457200"/>
          </a:xfrm>
          <a:prstGeom prst="rect">
            <a:avLst/>
          </a:prstGeom>
          <a:noFill/>
          <a:ln/>
        </p:spPr>
        <p:txBody>
          <a:bodyPr wrap="square" lIns="0" tIns="0" rIns="0" bIns="0" rtlCol="0" anchor="ctr"/>
          <a:lstStyle/>
          <a:p>
            <a:pPr indent="0" marL="0">
              <a:buNone/>
            </a:pPr>
            <a:r>
              <a:rPr lang="en-US" sz="1400" i="1" dirty="0">
                <a:solidFill>
                  <a:schemeClr val="accent3"/>
                </a:solidFill>
              </a:rPr>
              <a:t>Pérdida cero con persistencia activa es el criterio propuesto para la prueba de corte.</a:t>
            </a:r>
            <a:endParaRPr lang="en-US" sz="14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Trazas: un nivel reparte, otro decide</a:t>
            </a:r>
            <a:endParaRPr lang="en-US" sz="3400" dirty="0"/>
          </a:p>
        </p:txBody>
      </p:sp>
      <p:sp>
        <p:nvSpPr>
          <p:cNvPr id="4" name="box SDK"/>
          <p:cNvSpPr/>
          <p:nvPr/>
        </p:nvSpPr>
        <p:spPr>
          <a:xfrm>
            <a:off x="548640" y="2286000"/>
            <a:ext cx="1737360" cy="1188720"/>
          </a:xfrm>
          <a:prstGeom prst="roundRect">
            <a:avLst>
              <a:gd name="adj" fmla="val 6154"/>
            </a:avLst>
          </a:prstGeom>
          <a:solidFill>
            <a:schemeClr val="bg2"/>
          </a:solidFill>
          <a:ln w="12700">
            <a:solidFill>
              <a:schemeClr val="accent3"/>
            </a:solidFill>
            <a:prstDash val="solid"/>
          </a:ln>
        </p:spPr>
      </p:sp>
      <p:sp>
        <p:nvSpPr>
          <p:cNvPr id="5" name="Text 2"/>
          <p:cNvSpPr txBox="1"/>
          <p:nvPr/>
        </p:nvSpPr>
        <p:spPr>
          <a:xfrm>
            <a:off x="640080" y="2286000"/>
            <a:ext cx="1554480" cy="1188720"/>
          </a:xfrm>
          <a:prstGeom prst="rect">
            <a:avLst/>
          </a:prstGeom>
          <a:noFill/>
          <a:ln/>
        </p:spPr>
        <p:txBody>
          <a:bodyPr wrap="square" lIns="0" tIns="0" rIns="0" bIns="0" rtlCol="0" anchor="ctr"/>
          <a:lstStyle/>
          <a:p>
            <a:pPr algn="ctr" indent="0" marL="0">
              <a:buNone/>
            </a:pPr>
            <a:r>
              <a:rPr lang="en-US" sz="1400" b="1" dirty="0">
                <a:solidFill>
                  <a:schemeClr val="tx1"/>
                </a:solidFill>
              </a:rPr>
              <a:t>SDK</a:t>
            </a:r>
            <a:endParaRPr lang="en-US" sz="1400" dirty="0"/>
          </a:p>
          <a:p>
            <a:pPr algn="ctr" indent="0" marL="0">
              <a:buNone/>
            </a:pPr>
            <a:r>
              <a:rPr lang="en-US" sz="1200" dirty="0">
                <a:solidFill>
                  <a:schemeClr val="tx1"/>
                </a:solidFill>
              </a:rPr>
              <a:t>OTLP gRPC o HTTP</a:t>
            </a:r>
            <a:endParaRPr lang="en-US" sz="1400" dirty="0"/>
          </a:p>
        </p:txBody>
      </p:sp>
      <p:sp>
        <p:nvSpPr>
          <p:cNvPr id="6" name="box Agente local"/>
          <p:cNvSpPr/>
          <p:nvPr/>
        </p:nvSpPr>
        <p:spPr>
          <a:xfrm>
            <a:off x="2697480" y="2286000"/>
            <a:ext cx="1920240" cy="1188720"/>
          </a:xfrm>
          <a:prstGeom prst="roundRect">
            <a:avLst>
              <a:gd name="adj" fmla="val 6154"/>
            </a:avLst>
          </a:prstGeom>
          <a:solidFill>
            <a:schemeClr val="bg2"/>
          </a:solidFill>
          <a:ln w="12700">
            <a:solidFill>
              <a:schemeClr val="accent3"/>
            </a:solidFill>
            <a:prstDash val="solid"/>
          </a:ln>
        </p:spPr>
      </p:sp>
      <p:sp>
        <p:nvSpPr>
          <p:cNvPr id="7" name="Text 4"/>
          <p:cNvSpPr txBox="1"/>
          <p:nvPr/>
        </p:nvSpPr>
        <p:spPr>
          <a:xfrm>
            <a:off x="2788920" y="2286000"/>
            <a:ext cx="1737360" cy="1188720"/>
          </a:xfrm>
          <a:prstGeom prst="rect">
            <a:avLst/>
          </a:prstGeom>
          <a:noFill/>
          <a:ln/>
        </p:spPr>
        <p:txBody>
          <a:bodyPr wrap="square" lIns="0" tIns="0" rIns="0" bIns="0" rtlCol="0" anchor="ctr"/>
          <a:lstStyle/>
          <a:p>
            <a:pPr algn="ctr" indent="0" marL="0">
              <a:buNone/>
            </a:pPr>
            <a:r>
              <a:rPr lang="en-US" sz="1400" b="1" dirty="0">
                <a:solidFill>
                  <a:schemeClr val="tx1"/>
                </a:solidFill>
              </a:rPr>
              <a:t>Agente local</a:t>
            </a:r>
            <a:endParaRPr lang="en-US" sz="1400" dirty="0"/>
          </a:p>
          <a:p>
            <a:pPr algn="ctr" indent="0" marL="0">
              <a:buNone/>
            </a:pPr>
            <a:r>
              <a:rPr lang="en-US" sz="1200" dirty="0">
                <a:solidFill>
                  <a:schemeClr val="tx1"/>
                </a:solidFill>
              </a:rPr>
              <a:t>memory_limiter, resourcedetection, batch</a:t>
            </a:r>
            <a:endParaRPr lang="en-US" sz="1400" dirty="0"/>
          </a:p>
        </p:txBody>
      </p:sp>
      <p:sp>
        <p:nvSpPr>
          <p:cNvPr id="8" name="box Nivel 1"/>
          <p:cNvSpPr/>
          <p:nvPr/>
        </p:nvSpPr>
        <p:spPr>
          <a:xfrm>
            <a:off x="5029200" y="2286000"/>
            <a:ext cx="1920240" cy="1188720"/>
          </a:xfrm>
          <a:prstGeom prst="roundRect">
            <a:avLst>
              <a:gd name="adj" fmla="val 6154"/>
            </a:avLst>
          </a:prstGeom>
          <a:solidFill>
            <a:schemeClr val="bg2"/>
          </a:solidFill>
          <a:ln w="25400">
            <a:solidFill>
              <a:schemeClr val="accent1"/>
            </a:solidFill>
            <a:prstDash val="solid"/>
          </a:ln>
        </p:spPr>
      </p:sp>
      <p:sp>
        <p:nvSpPr>
          <p:cNvPr id="9" name="Text 6"/>
          <p:cNvSpPr txBox="1"/>
          <p:nvPr/>
        </p:nvSpPr>
        <p:spPr>
          <a:xfrm>
            <a:off x="5120640" y="2286000"/>
            <a:ext cx="1737360" cy="1188720"/>
          </a:xfrm>
          <a:prstGeom prst="rect">
            <a:avLst/>
          </a:prstGeom>
          <a:noFill/>
          <a:ln/>
        </p:spPr>
        <p:txBody>
          <a:bodyPr wrap="square" lIns="0" tIns="0" rIns="0" bIns="0" rtlCol="0" anchor="ctr"/>
          <a:lstStyle/>
          <a:p>
            <a:pPr algn="ctr" indent="0" marL="0">
              <a:buNone/>
            </a:pPr>
            <a:r>
              <a:rPr lang="en-US" sz="1400" b="1" dirty="0">
                <a:solidFill>
                  <a:schemeClr val="tx1"/>
                </a:solidFill>
              </a:rPr>
              <a:t>Nivel 1</a:t>
            </a:r>
            <a:endParaRPr lang="en-US" sz="1400" dirty="0"/>
          </a:p>
          <a:p>
            <a:pPr algn="ctr" indent="0" marL="0">
              <a:buNone/>
            </a:pPr>
            <a:r>
              <a:rPr lang="en-US" sz="1200" dirty="0">
                <a:solidFill>
                  <a:schemeClr val="tx1"/>
                </a:solidFill>
              </a:rPr>
              <a:t>load_balancing por traceID</a:t>
            </a:r>
            <a:endParaRPr lang="en-US" sz="1400" dirty="0"/>
          </a:p>
        </p:txBody>
      </p:sp>
      <p:sp>
        <p:nvSpPr>
          <p:cNvPr id="10" name="box Nivel 2, réplica 0"/>
          <p:cNvSpPr/>
          <p:nvPr/>
        </p:nvSpPr>
        <p:spPr>
          <a:xfrm>
            <a:off x="7498080" y="1737360"/>
            <a:ext cx="2011680" cy="1005840"/>
          </a:xfrm>
          <a:prstGeom prst="roundRect">
            <a:avLst>
              <a:gd name="adj" fmla="val 7273"/>
            </a:avLst>
          </a:prstGeom>
          <a:solidFill>
            <a:schemeClr val="bg2"/>
          </a:solidFill>
          <a:ln w="12700">
            <a:solidFill>
              <a:schemeClr val="accent3"/>
            </a:solidFill>
            <a:prstDash val="solid"/>
          </a:ln>
        </p:spPr>
      </p:sp>
      <p:sp>
        <p:nvSpPr>
          <p:cNvPr id="11" name="Text 8"/>
          <p:cNvSpPr txBox="1"/>
          <p:nvPr/>
        </p:nvSpPr>
        <p:spPr>
          <a:xfrm>
            <a:off x="7589520" y="1737360"/>
            <a:ext cx="1828800" cy="1005840"/>
          </a:xfrm>
          <a:prstGeom prst="rect">
            <a:avLst/>
          </a:prstGeom>
          <a:noFill/>
          <a:ln/>
        </p:spPr>
        <p:txBody>
          <a:bodyPr wrap="square" lIns="0" tIns="0" rIns="0" bIns="0" rtlCol="0" anchor="ctr"/>
          <a:lstStyle/>
          <a:p>
            <a:pPr algn="ctr" indent="0" marL="0">
              <a:buNone/>
            </a:pPr>
            <a:r>
              <a:rPr lang="en-US" sz="1400" b="1" dirty="0">
                <a:solidFill>
                  <a:schemeClr val="tx1"/>
                </a:solidFill>
              </a:rPr>
              <a:t>Nivel 2, réplica 0</a:t>
            </a:r>
            <a:endParaRPr lang="en-US" sz="1400" dirty="0"/>
          </a:p>
          <a:p>
            <a:pPr algn="ctr" indent="0" marL="0">
              <a:buNone/>
            </a:pPr>
            <a:r>
              <a:rPr lang="en-US" sz="1200" dirty="0">
                <a:solidFill>
                  <a:schemeClr val="tx1"/>
                </a:solidFill>
              </a:rPr>
              <a:t>tail_sampling</a:t>
            </a:r>
            <a:endParaRPr lang="en-US" sz="1400" dirty="0"/>
          </a:p>
        </p:txBody>
      </p:sp>
      <p:sp>
        <p:nvSpPr>
          <p:cNvPr id="12" name="box Nivel 2, réplica 1"/>
          <p:cNvSpPr/>
          <p:nvPr/>
        </p:nvSpPr>
        <p:spPr>
          <a:xfrm>
            <a:off x="7498080" y="3017520"/>
            <a:ext cx="2011680" cy="1005840"/>
          </a:xfrm>
          <a:prstGeom prst="roundRect">
            <a:avLst>
              <a:gd name="adj" fmla="val 7273"/>
            </a:avLst>
          </a:prstGeom>
          <a:solidFill>
            <a:schemeClr val="bg2"/>
          </a:solidFill>
          <a:ln w="12700">
            <a:solidFill>
              <a:schemeClr val="accent3"/>
            </a:solidFill>
            <a:prstDash val="solid"/>
          </a:ln>
        </p:spPr>
      </p:sp>
      <p:sp>
        <p:nvSpPr>
          <p:cNvPr id="13" name="Text 10"/>
          <p:cNvSpPr txBox="1"/>
          <p:nvPr/>
        </p:nvSpPr>
        <p:spPr>
          <a:xfrm>
            <a:off x="7589520" y="3017520"/>
            <a:ext cx="1828800" cy="1005840"/>
          </a:xfrm>
          <a:prstGeom prst="rect">
            <a:avLst/>
          </a:prstGeom>
          <a:noFill/>
          <a:ln/>
        </p:spPr>
        <p:txBody>
          <a:bodyPr wrap="square" lIns="0" tIns="0" rIns="0" bIns="0" rtlCol="0" anchor="ctr"/>
          <a:lstStyle/>
          <a:p>
            <a:pPr algn="ctr" indent="0" marL="0">
              <a:buNone/>
            </a:pPr>
            <a:r>
              <a:rPr lang="en-US" sz="1400" b="1" dirty="0">
                <a:solidFill>
                  <a:schemeClr val="tx1"/>
                </a:solidFill>
              </a:rPr>
              <a:t>Nivel 2, réplica 1</a:t>
            </a:r>
            <a:endParaRPr lang="en-US" sz="1400" dirty="0"/>
          </a:p>
          <a:p>
            <a:pPr algn="ctr" indent="0" marL="0">
              <a:buNone/>
            </a:pPr>
            <a:r>
              <a:rPr lang="en-US" sz="1200" dirty="0">
                <a:solidFill>
                  <a:schemeClr val="tx1"/>
                </a:solidFill>
              </a:rPr>
              <a:t>tail_sampling</a:t>
            </a:r>
            <a:endParaRPr lang="en-US" sz="1400" dirty="0"/>
          </a:p>
        </p:txBody>
      </p:sp>
      <p:sp>
        <p:nvSpPr>
          <p:cNvPr id="14" name="box Grafana Cloud"/>
          <p:cNvSpPr/>
          <p:nvPr/>
        </p:nvSpPr>
        <p:spPr>
          <a:xfrm>
            <a:off x="10058400" y="2286000"/>
            <a:ext cx="1581912" cy="1188720"/>
          </a:xfrm>
          <a:prstGeom prst="roundRect">
            <a:avLst>
              <a:gd name="adj" fmla="val 6154"/>
            </a:avLst>
          </a:prstGeom>
          <a:solidFill>
            <a:schemeClr val="bg2"/>
          </a:solidFill>
          <a:ln w="12700">
            <a:solidFill>
              <a:schemeClr val="accent3"/>
            </a:solidFill>
            <a:prstDash val="solid"/>
          </a:ln>
        </p:spPr>
      </p:sp>
      <p:sp>
        <p:nvSpPr>
          <p:cNvPr id="15" name="Text 12"/>
          <p:cNvSpPr txBox="1"/>
          <p:nvPr/>
        </p:nvSpPr>
        <p:spPr>
          <a:xfrm>
            <a:off x="10149840" y="2286000"/>
            <a:ext cx="1399032" cy="1188720"/>
          </a:xfrm>
          <a:prstGeom prst="rect">
            <a:avLst/>
          </a:prstGeom>
          <a:noFill/>
          <a:ln/>
        </p:spPr>
        <p:txBody>
          <a:bodyPr wrap="square" lIns="0" tIns="0" rIns="0" bIns="0" rtlCol="0" anchor="ctr"/>
          <a:lstStyle/>
          <a:p>
            <a:pPr algn="ctr" indent="0" marL="0">
              <a:buNone/>
            </a:pPr>
            <a:r>
              <a:rPr lang="en-US" sz="1400" b="1" dirty="0">
                <a:solidFill>
                  <a:schemeClr val="tx1"/>
                </a:solidFill>
              </a:rPr>
              <a:t>Grafana Cloud</a:t>
            </a:r>
            <a:endParaRPr lang="en-US" sz="1400" dirty="0"/>
          </a:p>
          <a:p>
            <a:pPr algn="ctr" indent="0" marL="0">
              <a:buNone/>
            </a:pPr>
            <a:r>
              <a:rPr lang="en-US" sz="1200" dirty="0">
                <a:solidFill>
                  <a:schemeClr val="tx1"/>
                </a:solidFill>
              </a:rPr>
              <a:t>Endpoint OTLP</a:t>
            </a:r>
            <a:endParaRPr lang="en-US" sz="1400" dirty="0"/>
          </a:p>
        </p:txBody>
      </p:sp>
      <p:sp>
        <p:nvSpPr>
          <p:cNvPr id="16" name="arrow"/>
          <p:cNvSpPr/>
          <p:nvPr/>
        </p:nvSpPr>
        <p:spPr>
          <a:xfrm>
            <a:off x="2286000" y="2880360"/>
            <a:ext cx="411480" cy="0"/>
          </a:xfrm>
          <a:prstGeom prst="line">
            <a:avLst/>
          </a:prstGeom>
          <a:noFill/>
          <a:ln w="19050">
            <a:solidFill>
              <a:schemeClr val="accent3"/>
            </a:solidFill>
            <a:prstDash val="solid"/>
            <a:tailEnd type="triangle"/>
          </a:ln>
        </p:spPr>
      </p:sp>
      <p:sp>
        <p:nvSpPr>
          <p:cNvPr id="17" name="arrow"/>
          <p:cNvSpPr/>
          <p:nvPr/>
        </p:nvSpPr>
        <p:spPr>
          <a:xfrm>
            <a:off x="4617720" y="2880360"/>
            <a:ext cx="411480" cy="0"/>
          </a:xfrm>
          <a:prstGeom prst="line">
            <a:avLst/>
          </a:prstGeom>
          <a:noFill/>
          <a:ln w="19050">
            <a:solidFill>
              <a:schemeClr val="accent3"/>
            </a:solidFill>
            <a:prstDash val="solid"/>
            <a:tailEnd type="triangle"/>
          </a:ln>
        </p:spPr>
      </p:sp>
      <p:sp>
        <p:nvSpPr>
          <p:cNvPr id="18" name="arrow"/>
          <p:cNvSpPr/>
          <p:nvPr/>
        </p:nvSpPr>
        <p:spPr>
          <a:xfrm flipV="1">
            <a:off x="6949440" y="2240280"/>
            <a:ext cx="548640" cy="411480"/>
          </a:xfrm>
          <a:prstGeom prst="line">
            <a:avLst/>
          </a:prstGeom>
          <a:noFill/>
          <a:ln w="19050">
            <a:solidFill>
              <a:schemeClr val="accent3"/>
            </a:solidFill>
            <a:prstDash val="solid"/>
            <a:tailEnd type="triangle"/>
          </a:ln>
        </p:spPr>
      </p:sp>
      <p:sp>
        <p:nvSpPr>
          <p:cNvPr id="19" name="arrow"/>
          <p:cNvSpPr/>
          <p:nvPr/>
        </p:nvSpPr>
        <p:spPr>
          <a:xfrm>
            <a:off x="6949440" y="3108960"/>
            <a:ext cx="548640" cy="411480"/>
          </a:xfrm>
          <a:prstGeom prst="line">
            <a:avLst/>
          </a:prstGeom>
          <a:noFill/>
          <a:ln w="19050">
            <a:solidFill>
              <a:schemeClr val="accent3"/>
            </a:solidFill>
            <a:prstDash val="solid"/>
            <a:tailEnd type="triangle"/>
          </a:ln>
        </p:spPr>
      </p:sp>
      <p:sp>
        <p:nvSpPr>
          <p:cNvPr id="20" name="arrow"/>
          <p:cNvSpPr/>
          <p:nvPr/>
        </p:nvSpPr>
        <p:spPr>
          <a:xfrm>
            <a:off x="9509760" y="2240280"/>
            <a:ext cx="548640" cy="502920"/>
          </a:xfrm>
          <a:prstGeom prst="line">
            <a:avLst/>
          </a:prstGeom>
          <a:noFill/>
          <a:ln w="19050">
            <a:solidFill>
              <a:schemeClr val="accent3"/>
            </a:solidFill>
            <a:prstDash val="solid"/>
            <a:tailEnd type="triangle"/>
          </a:ln>
        </p:spPr>
      </p:sp>
      <p:sp>
        <p:nvSpPr>
          <p:cNvPr id="21" name="arrow"/>
          <p:cNvSpPr/>
          <p:nvPr/>
        </p:nvSpPr>
        <p:spPr>
          <a:xfrm flipV="1">
            <a:off x="9509760" y="3017520"/>
            <a:ext cx="548640" cy="502920"/>
          </a:xfrm>
          <a:prstGeom prst="line">
            <a:avLst/>
          </a:prstGeom>
          <a:noFill/>
          <a:ln w="19050">
            <a:solidFill>
              <a:schemeClr val="accent3"/>
            </a:solidFill>
            <a:prstDash val="solid"/>
            <a:tailEnd type="triangle"/>
          </a:ln>
        </p:spPr>
      </p:sp>
      <p:sp>
        <p:nvSpPr>
          <p:cNvPr id="22" name="stat 30 s"/>
          <p:cNvSpPr/>
          <p:nvPr/>
        </p:nvSpPr>
        <p:spPr>
          <a:xfrm>
            <a:off x="548640" y="4480560"/>
            <a:ext cx="3566160" cy="1645920"/>
          </a:xfrm>
          <a:prstGeom prst="roundRect">
            <a:avLst>
              <a:gd name="adj" fmla="val 4444"/>
            </a:avLst>
          </a:prstGeom>
          <a:solidFill>
            <a:schemeClr val="bg2"/>
          </a:solidFill>
          <a:ln w="9525">
            <a:solidFill>
              <a:schemeClr val="bg2"/>
            </a:solidFill>
            <a:prstDash val="solid"/>
          </a:ln>
        </p:spPr>
      </p:sp>
      <p:sp>
        <p:nvSpPr>
          <p:cNvPr id="23" name="Text 20"/>
          <p:cNvSpPr txBox="1"/>
          <p:nvPr/>
        </p:nvSpPr>
        <p:spPr>
          <a:xfrm>
            <a:off x="731520" y="4590288"/>
            <a:ext cx="3200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30 s</a:t>
            </a:r>
            <a:endParaRPr lang="en-US" sz="3600" dirty="0"/>
          </a:p>
        </p:txBody>
      </p:sp>
      <p:sp>
        <p:nvSpPr>
          <p:cNvPr id="24" name="Text 21"/>
          <p:cNvSpPr txBox="1"/>
          <p:nvPr/>
        </p:nvSpPr>
        <p:spPr>
          <a:xfrm>
            <a:off x="731520" y="5303520"/>
            <a:ext cx="3200400" cy="731520"/>
          </a:xfrm>
          <a:prstGeom prst="rect">
            <a:avLst/>
          </a:prstGeom>
          <a:noFill/>
          <a:ln/>
        </p:spPr>
        <p:txBody>
          <a:bodyPr wrap="square" lIns="0" tIns="0" rIns="0" bIns="0" rtlCol="0" anchor="t"/>
          <a:lstStyle/>
          <a:p>
            <a:pPr indent="0" marL="0">
              <a:buNone/>
            </a:pPr>
            <a:r>
              <a:rPr lang="en-US" sz="1300" dirty="0">
                <a:solidFill>
                  <a:schemeClr val="tx1"/>
                </a:solidFill>
              </a:rPr>
              <a:t>decision_wait por defecto antes de decidir una traza</a:t>
            </a:r>
            <a:endParaRPr lang="en-US" sz="1300" dirty="0"/>
          </a:p>
        </p:txBody>
      </p:sp>
      <p:sp>
        <p:nvSpPr>
          <p:cNvPr id="25" name="stat 50 000"/>
          <p:cNvSpPr/>
          <p:nvPr/>
        </p:nvSpPr>
        <p:spPr>
          <a:xfrm>
            <a:off x="4297680" y="4480560"/>
            <a:ext cx="3566160" cy="1645920"/>
          </a:xfrm>
          <a:prstGeom prst="roundRect">
            <a:avLst>
              <a:gd name="adj" fmla="val 4444"/>
            </a:avLst>
          </a:prstGeom>
          <a:solidFill>
            <a:schemeClr val="bg2"/>
          </a:solidFill>
          <a:ln w="9525">
            <a:solidFill>
              <a:schemeClr val="bg2"/>
            </a:solidFill>
            <a:prstDash val="solid"/>
          </a:ln>
        </p:spPr>
      </p:sp>
      <p:sp>
        <p:nvSpPr>
          <p:cNvPr id="26" name="Text 23"/>
          <p:cNvSpPr txBox="1"/>
          <p:nvPr/>
        </p:nvSpPr>
        <p:spPr>
          <a:xfrm>
            <a:off x="4480560" y="4590288"/>
            <a:ext cx="3200400"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50 000</a:t>
            </a:r>
            <a:endParaRPr lang="en-US" sz="3600" dirty="0"/>
          </a:p>
        </p:txBody>
      </p:sp>
      <p:sp>
        <p:nvSpPr>
          <p:cNvPr id="27" name="Text 24"/>
          <p:cNvSpPr txBox="1"/>
          <p:nvPr/>
        </p:nvSpPr>
        <p:spPr>
          <a:xfrm>
            <a:off x="4480560" y="5303520"/>
            <a:ext cx="3200400" cy="731520"/>
          </a:xfrm>
          <a:prstGeom prst="rect">
            <a:avLst/>
          </a:prstGeom>
          <a:noFill/>
          <a:ln/>
        </p:spPr>
        <p:txBody>
          <a:bodyPr wrap="square" lIns="0" tIns="0" rIns="0" bIns="0" rtlCol="0" anchor="t"/>
          <a:lstStyle/>
          <a:p>
            <a:pPr indent="0" marL="0">
              <a:buNone/>
            </a:pPr>
            <a:r>
              <a:rPr lang="en-US" sz="1300" dirty="0">
                <a:solidFill>
                  <a:schemeClr val="tx1"/>
                </a:solidFill>
              </a:rPr>
              <a:t>num_traces por defecto, trazas en memoria por instancia</a:t>
            </a:r>
            <a:endParaRPr lang="en-US" sz="1300" dirty="0"/>
          </a:p>
        </p:txBody>
      </p:sp>
      <p:sp>
        <p:nvSpPr>
          <p:cNvPr id="28" name="stat Beta"/>
          <p:cNvSpPr/>
          <p:nvPr/>
        </p:nvSpPr>
        <p:spPr>
          <a:xfrm>
            <a:off x="8046720" y="4480560"/>
            <a:ext cx="3593592" cy="1645920"/>
          </a:xfrm>
          <a:prstGeom prst="roundRect">
            <a:avLst>
              <a:gd name="adj" fmla="val 4444"/>
            </a:avLst>
          </a:prstGeom>
          <a:solidFill>
            <a:schemeClr val="bg2"/>
          </a:solidFill>
          <a:ln w="9525">
            <a:solidFill>
              <a:schemeClr val="bg2"/>
            </a:solidFill>
            <a:prstDash val="solid"/>
          </a:ln>
        </p:spPr>
      </p:sp>
      <p:sp>
        <p:nvSpPr>
          <p:cNvPr id="29" name="Text 26"/>
          <p:cNvSpPr txBox="1"/>
          <p:nvPr/>
        </p:nvSpPr>
        <p:spPr>
          <a:xfrm>
            <a:off x="8229600" y="4590288"/>
            <a:ext cx="3227832"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Beta</a:t>
            </a:r>
            <a:endParaRPr lang="en-US" sz="3600" dirty="0"/>
          </a:p>
        </p:txBody>
      </p:sp>
      <p:sp>
        <p:nvSpPr>
          <p:cNvPr id="30" name="Text 27"/>
          <p:cNvSpPr txBox="1"/>
          <p:nvPr/>
        </p:nvSpPr>
        <p:spPr>
          <a:xfrm>
            <a:off x="8229600" y="5303520"/>
            <a:ext cx="3227832" cy="731520"/>
          </a:xfrm>
          <a:prstGeom prst="rect">
            <a:avLst/>
          </a:prstGeom>
          <a:noFill/>
          <a:ln/>
        </p:spPr>
        <p:txBody>
          <a:bodyPr wrap="square" lIns="0" tIns="0" rIns="0" bIns="0" rtlCol="0" anchor="t"/>
          <a:lstStyle/>
          <a:p>
            <a:pPr indent="0" marL="0">
              <a:buNone/>
            </a:pPr>
            <a:r>
              <a:rPr lang="en-US" sz="1300" dirty="0">
                <a:solidFill>
                  <a:schemeClr val="tx1"/>
                </a:solidFill>
              </a:rPr>
              <a:t>tail_sampling en Contrib; GA en Alloy</a:t>
            </a:r>
            <a:endParaRPr lang="en-US" sz="13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El balanceador reparte, no garantiza</a:t>
            </a:r>
            <a:endParaRPr lang="en-US" sz="3400" dirty="0"/>
          </a:p>
        </p:txBody>
      </p:sp>
      <p:sp>
        <p:nvSpPr>
          <p:cNvPr id="4" name="card Lo que sí hace"/>
          <p:cNvSpPr/>
          <p:nvPr/>
        </p:nvSpPr>
        <p:spPr>
          <a:xfrm>
            <a:off x="548640" y="1600200"/>
            <a:ext cx="5394960" cy="3749040"/>
          </a:xfrm>
          <a:prstGeom prst="roundRect">
            <a:avLst>
              <a:gd name="adj" fmla="val 1951"/>
            </a:avLst>
          </a:prstGeom>
          <a:solidFill>
            <a:srgbClr val="E4F4EB"/>
          </a:solidFill>
          <a:ln w="9525">
            <a:solidFill>
              <a:srgbClr val="E4F4EB"/>
            </a:solidFill>
            <a:prstDash val="solid"/>
          </a:ln>
        </p:spPr>
      </p:sp>
      <p:sp>
        <p:nvSpPr>
          <p:cNvPr id="5" name="text Lo que sí hace"/>
          <p:cNvSpPr txBox="1"/>
          <p:nvPr/>
        </p:nvSpPr>
        <p:spPr>
          <a:xfrm>
            <a:off x="731520" y="1737360"/>
            <a:ext cx="5029200" cy="34747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Lo que sí hace</a:t>
            </a:r>
            <a:endParaRPr lang="en-US" sz="2000" dirty="0"/>
          </a:p>
          <a:p>
            <a:pPr marL="177800" indent="-177800">
              <a:spcAft>
                <a:spcPts val="400"/>
              </a:spcAft>
              <a:buSzPct val="100000"/>
              <a:buChar char="•"/>
            </a:pPr>
            <a:r>
              <a:rPr lang="en-US" sz="1700" dirty="0">
                <a:solidFill>
                  <a:schemeClr val="tx1"/>
                </a:solidFill>
              </a:rPr>
              <a:t>Hashing consistente por traceID, service, resource, metric, streamID, attributes o randomness</a:t>
            </a:r>
            <a:endParaRPr lang="en-US" sz="2000" dirty="0"/>
          </a:p>
          <a:p>
            <a:pPr marL="177800" indent="-177800">
              <a:spcAft>
                <a:spcPts val="400"/>
              </a:spcAft>
              <a:buSzPct val="100000"/>
              <a:buChar char="•"/>
            </a:pPr>
            <a:r>
              <a:rPr lang="en-US" sz="1700" dirty="0">
                <a:solidFill>
                  <a:schemeClr val="tx1"/>
                </a:solidFill>
              </a:rPr>
              <a:t>Un exportador OTLP por endpoint con cola y reintentos</a:t>
            </a:r>
            <a:endParaRPr lang="en-US" sz="2000" dirty="0"/>
          </a:p>
          <a:p>
            <a:pPr marL="177800" indent="-177800">
              <a:spcAft>
                <a:spcPts val="400"/>
              </a:spcAft>
              <a:buSzPct val="100000"/>
              <a:buChar char="•"/>
            </a:pPr>
            <a:r>
              <a:rPr lang="en-US" sz="1700" dirty="0">
                <a:solidFill>
                  <a:schemeClr val="tx1"/>
                </a:solidFill>
              </a:rPr>
              <a:t>Resolvers static, dns, k8s y aws_cloud_map</a:t>
            </a:r>
            <a:endParaRPr lang="en-US" sz="2000" dirty="0"/>
          </a:p>
        </p:txBody>
      </p:sp>
      <p:sp>
        <p:nvSpPr>
          <p:cNvPr id="6" name="card Lo que no garantiza"/>
          <p:cNvSpPr/>
          <p:nvPr/>
        </p:nvSpPr>
        <p:spPr>
          <a:xfrm>
            <a:off x="6126480" y="1600200"/>
            <a:ext cx="5513832" cy="3749040"/>
          </a:xfrm>
          <a:prstGeom prst="roundRect">
            <a:avLst>
              <a:gd name="adj" fmla="val 1951"/>
            </a:avLst>
          </a:prstGeom>
          <a:solidFill>
            <a:srgbClr val="FBE6E6"/>
          </a:solidFill>
          <a:ln w="9525">
            <a:solidFill>
              <a:srgbClr val="FBE6E6"/>
            </a:solidFill>
            <a:prstDash val="solid"/>
          </a:ln>
        </p:spPr>
      </p:sp>
      <p:sp>
        <p:nvSpPr>
          <p:cNvPr id="7" name="text Lo que no garantiza"/>
          <p:cNvSpPr txBox="1"/>
          <p:nvPr/>
        </p:nvSpPr>
        <p:spPr>
          <a:xfrm>
            <a:off x="6309360" y="1737360"/>
            <a:ext cx="5148072" cy="34747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Lo que no garantiza</a:t>
            </a:r>
            <a:endParaRPr lang="en-US" sz="2000" dirty="0"/>
          </a:p>
          <a:p>
            <a:pPr marL="177800" indent="-177800">
              <a:spcAft>
                <a:spcPts val="400"/>
              </a:spcAft>
              <a:buSzPct val="100000"/>
              <a:buChar char="•"/>
            </a:pPr>
            <a:r>
              <a:rPr lang="en-US" sz="1700" dirty="0">
                <a:solidFill>
                  <a:schemeClr val="tx1"/>
                </a:solidFill>
              </a:rPr>
              <a:t>Traza completa durante cambios de topología</a:t>
            </a:r>
            <a:endParaRPr lang="en-US" sz="2000" dirty="0"/>
          </a:p>
          <a:p>
            <a:pPr marL="177800" indent="-177800">
              <a:spcAft>
                <a:spcPts val="400"/>
              </a:spcAft>
              <a:buSzPct val="100000"/>
              <a:buChar char="•"/>
            </a:pPr>
            <a:r>
              <a:rPr lang="en-US" sz="1700" dirty="0">
                <a:solidFill>
                  <a:schemeClr val="tx1"/>
                </a:solidFill>
              </a:rPr>
              <a:t>Reenvío a otro destino si uno falla, por defecto</a:t>
            </a:r>
            <a:endParaRPr lang="en-US" sz="2000" dirty="0"/>
          </a:p>
          <a:p>
            <a:pPr marL="177800" indent="-177800">
              <a:spcAft>
                <a:spcPts val="400"/>
              </a:spcAft>
              <a:buSzPct val="100000"/>
              <a:buChar char="•"/>
            </a:pPr>
            <a:r>
              <a:rPr lang="en-US" sz="1700" dirty="0">
                <a:solidFill>
                  <a:schemeClr val="tx1"/>
                </a:solidFill>
              </a:rPr>
              <a:t>Cola persistente en sub-exportadores</a:t>
            </a:r>
            <a:endParaRPr lang="en-US" sz="2000" dirty="0"/>
          </a:p>
          <a:p>
            <a:pPr marL="177800" indent="-177800">
              <a:spcAft>
                <a:spcPts val="400"/>
              </a:spcAft>
              <a:buSzPct val="100000"/>
              <a:buChar char="•"/>
            </a:pPr>
            <a:r>
              <a:rPr lang="en-US" sz="1700" dirty="0">
                <a:solidFill>
                  <a:schemeClr val="tx1"/>
                </a:solidFill>
              </a:rPr>
              <a:t>groupbytrace en Alloy</a:t>
            </a:r>
            <a:endParaRPr lang="en-US" sz="2000" dirty="0"/>
          </a:p>
        </p:txBody>
      </p:sp>
      <p:sp>
        <p:nvSpPr>
          <p:cNvPr id="8" name="Text 5"/>
          <p:cNvSpPr txBox="1"/>
          <p:nvPr/>
        </p:nvSpPr>
        <p:spPr>
          <a:xfrm>
            <a:off x="548640" y="5577840"/>
            <a:ext cx="11064240" cy="640080"/>
          </a:xfrm>
          <a:prstGeom prst="rect">
            <a:avLst/>
          </a:prstGeom>
          <a:noFill/>
          <a:ln/>
        </p:spPr>
        <p:txBody>
          <a:bodyPr wrap="square" lIns="0" tIns="0" rIns="0" bIns="0" rtlCol="0" anchor="ctr"/>
          <a:lstStyle/>
          <a:p>
            <a:pPr indent="0" marL="0">
              <a:buNone/>
            </a:pPr>
            <a:r>
              <a:rPr lang="en-US" sz="1600" b="1" dirty="0">
                <a:solidFill>
                  <a:schemeClr val="tx1"/>
                </a:solidFill>
              </a:rPr>
              <a:t>Al agregar o quitar gateways cambian cerca de R/N de las rutas: escalar por pasos y fuera de horas pico.</a:t>
            </a:r>
            <a:endParaRPr lang="en-US" sz="16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Span metrics: Grafana Cloud por defecto</a:t>
            </a:r>
            <a:endParaRPr lang="en-US" sz="3400" dirty="0"/>
          </a:p>
        </p:txBody>
      </p:sp>
      <p:sp>
        <p:nvSpPr>
          <p:cNvPr id="4" name="card Generar en Grafana Cloud"/>
          <p:cNvSpPr/>
          <p:nvPr/>
        </p:nvSpPr>
        <p:spPr>
          <a:xfrm>
            <a:off x="548640" y="1600200"/>
            <a:ext cx="5394960" cy="1828800"/>
          </a:xfrm>
          <a:prstGeom prst="roundRect">
            <a:avLst>
              <a:gd name="adj" fmla="val 4000"/>
            </a:avLst>
          </a:prstGeom>
          <a:solidFill>
            <a:schemeClr val="bg2"/>
          </a:solidFill>
          <a:ln w="9525">
            <a:solidFill>
              <a:schemeClr val="bg2"/>
            </a:solidFill>
            <a:prstDash val="solid"/>
          </a:ln>
        </p:spPr>
      </p:sp>
      <p:sp>
        <p:nvSpPr>
          <p:cNvPr id="5" name="text Generar en Grafana Cloud"/>
          <p:cNvSpPr txBox="1"/>
          <p:nvPr/>
        </p:nvSpPr>
        <p:spPr>
          <a:xfrm>
            <a:off x="731520" y="1737360"/>
            <a:ext cx="5029200" cy="15544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Generar en Grafana Cloud</a:t>
            </a:r>
            <a:endParaRPr lang="en-US" sz="2000" dirty="0"/>
          </a:p>
          <a:p>
            <a:pPr marL="177800" indent="-177800">
              <a:spcAft>
                <a:spcPts val="400"/>
              </a:spcAft>
              <a:buSzPct val="100000"/>
              <a:buChar char="•"/>
            </a:pPr>
            <a:r>
              <a:rPr lang="en-US" sz="1700" dirty="0">
                <a:solidFill>
                  <a:schemeClr val="tx1"/>
                </a:solidFill>
              </a:rPr>
              <a:t>Fuente por defecto y nombres soportados</a:t>
            </a:r>
            <a:endParaRPr lang="en-US" sz="2000" dirty="0"/>
          </a:p>
          <a:p>
            <a:pPr marL="177800" indent="-177800">
              <a:spcAft>
                <a:spcPts val="400"/>
              </a:spcAft>
              <a:buSzPct val="100000"/>
              <a:buChar char="•"/>
            </a:pPr>
            <a:r>
              <a:rPr lang="en-US" sz="1700" dirty="0">
                <a:solidFill>
                  <a:schemeClr val="tx1"/>
                </a:solidFill>
              </a:rPr>
              <a:t>Generación opt-in; service graph desactivable</a:t>
            </a:r>
            <a:endParaRPr lang="en-US" sz="2000" dirty="0"/>
          </a:p>
        </p:txBody>
      </p:sp>
      <p:sp>
        <p:nvSpPr>
          <p:cNvPr id="6" name="card Generar en el collector"/>
          <p:cNvSpPr/>
          <p:nvPr/>
        </p:nvSpPr>
        <p:spPr>
          <a:xfrm>
            <a:off x="6126480" y="1600200"/>
            <a:ext cx="5513832" cy="1828800"/>
          </a:xfrm>
          <a:prstGeom prst="roundRect">
            <a:avLst>
              <a:gd name="adj" fmla="val 4000"/>
            </a:avLst>
          </a:prstGeom>
          <a:solidFill>
            <a:schemeClr val="bg2"/>
          </a:solidFill>
          <a:ln w="9525">
            <a:solidFill>
              <a:schemeClr val="bg2"/>
            </a:solidFill>
            <a:prstDash val="solid"/>
          </a:ln>
        </p:spPr>
      </p:sp>
      <p:sp>
        <p:nvSpPr>
          <p:cNvPr id="7" name="text Generar en el collector"/>
          <p:cNvSpPr txBox="1"/>
          <p:nvPr/>
        </p:nvSpPr>
        <p:spPr>
          <a:xfrm>
            <a:off x="6309360" y="1737360"/>
            <a:ext cx="5148072" cy="155448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Generar en el collector</a:t>
            </a:r>
            <a:endParaRPr lang="en-US" sz="2000" dirty="0"/>
          </a:p>
          <a:p>
            <a:pPr marL="177800" indent="-177800">
              <a:spcAft>
                <a:spcPts val="400"/>
              </a:spcAft>
              <a:buSzPct val="100000"/>
              <a:buChar char="•"/>
            </a:pPr>
            <a:r>
              <a:rPr lang="en-US" sz="1700" dirty="0">
                <a:solidFill>
                  <a:schemeClr val="tx1"/>
                </a:solidFill>
              </a:rPr>
              <a:t>Métricas Prometheus portables</a:t>
            </a:r>
            <a:endParaRPr lang="en-US" sz="2000" dirty="0"/>
          </a:p>
          <a:p>
            <a:pPr marL="177800" indent="-177800">
              <a:spcAft>
                <a:spcPts val="400"/>
              </a:spcAft>
              <a:buSzPct val="100000"/>
              <a:buChar char="•"/>
            </a:pPr>
            <a:r>
              <a:rPr lang="en-US" sz="1700" dirty="0">
                <a:solidFill>
                  <a:schemeClr val="tx1"/>
                </a:solidFill>
              </a:rPr>
              <a:t>Nombres traces_span_metrics_* y target_info</a:t>
            </a:r>
            <a:endParaRPr lang="en-US" sz="2000" dirty="0"/>
          </a:p>
        </p:txBody>
      </p:sp>
      <p:graphicFrame>
        <p:nvGraphicFramePr>
          <p:cNvPr id="13" name="Escenarios de span metrics"/>
          <p:cNvGraphicFramePr>
            <a:graphicFrameLocks noGrp="1"/>
          </p:cNvGraphicFramePr>
          <p:nvPr>
            <p:extLst>
              <p:ext uri="{D42A27DB-BD31-4B8C-83A1-F6EECF244321}">
                <p14:modId xmlns:p14="http://schemas.microsoft.com/office/powerpoint/2010/main" val="1579011935"/>
              </p:ext>
            </p:extLst>
          </p:nvPr>
        </p:nvGraphicFramePr>
        <p:xfrm>
          <a:off x="548640" y="3749040"/>
          <a:ext cx="11091672" cy="914400"/>
        </p:xfrm>
        <a:graphic>
          <a:graphicData uri="http://schemas.openxmlformats.org/drawingml/2006/table">
            <a:tbl>
              <a:tblPr/>
              <a:tblGrid>
                <a:gridCol w="3200400"/>
                <a:gridCol w="7891272"/>
              </a:tblGrid>
              <a:tr h="54864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Escenario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Estrategia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5486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Máxima integración nativa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Generar en Cloud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5486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Máxima portabilidad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Conectores en el collector con nombres de Application Observability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54864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Mínima complejidad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Cloud, service graph solo donde se use, Adaptive Traces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Kubernetes, AWS y Azure: un patrón por señal</a:t>
            </a:r>
            <a:endParaRPr lang="en-US" sz="3400" dirty="0"/>
          </a:p>
        </p:txBody>
      </p:sp>
      <p:sp>
        <p:nvSpPr>
          <p:cNvPr id="4" name="icon circle"/>
          <p:cNvSpPr/>
          <p:nvPr/>
        </p:nvSpPr>
        <p:spPr>
          <a:xfrm>
            <a:off x="731520" y="1691640"/>
            <a:ext cx="548640" cy="548640"/>
          </a:xfrm>
          <a:prstGeom prst="ellipse">
            <a:avLst/>
          </a:prstGeom>
          <a:solidFill>
            <a:schemeClr val="accent1"/>
          </a:solidFill>
          <a:ln w="6350">
            <a:solidFill>
              <a:schemeClr val="accent1"/>
            </a:solidFill>
            <a:prstDash val="solid"/>
          </a:ln>
        </p:spPr>
      </p:sp>
      <p:pic>
        <p:nvPicPr>
          <p:cNvPr id="5" name="Image 0" descr="FaCloud">    </p:cNvPr>
          <p:cNvPicPr>
            <a:picLocks noChangeAspect="1"/>
          </p:cNvPicPr>
          <p:nvPr/>
        </p:nvPicPr>
        <p:blipFill>
          <a:blip r:embed="rId1"/>
          <a:stretch>
            <a:fillRect/>
          </a:stretch>
        </p:blipFill>
        <p:spPr>
          <a:xfrm>
            <a:off x="859536" y="1819656"/>
            <a:ext cx="292608" cy="292608"/>
          </a:xfrm>
          <a:prstGeom prst="rect">
            <a:avLst/>
          </a:prstGeom>
        </p:spPr>
      </p:pic>
      <p:sp>
        <p:nvSpPr>
          <p:cNvPr id="6" name="icon circle"/>
          <p:cNvSpPr/>
          <p:nvPr/>
        </p:nvSpPr>
        <p:spPr>
          <a:xfrm>
            <a:off x="4480560" y="1691640"/>
            <a:ext cx="548640" cy="548640"/>
          </a:xfrm>
          <a:prstGeom prst="ellipse">
            <a:avLst/>
          </a:prstGeom>
          <a:solidFill>
            <a:schemeClr val="accent2"/>
          </a:solidFill>
          <a:ln w="6350">
            <a:solidFill>
              <a:schemeClr val="accent2"/>
            </a:solidFill>
            <a:prstDash val="solid"/>
          </a:ln>
        </p:spPr>
      </p:sp>
      <p:pic>
        <p:nvPicPr>
          <p:cNvPr id="7" name="Image 1" descr="FaCloud">    </p:cNvPr>
          <p:cNvPicPr>
            <a:picLocks noChangeAspect="1"/>
          </p:cNvPicPr>
          <p:nvPr/>
        </p:nvPicPr>
        <p:blipFill>
          <a:blip r:embed="rId2"/>
          <a:stretch>
            <a:fillRect/>
          </a:stretch>
        </p:blipFill>
        <p:spPr>
          <a:xfrm>
            <a:off x="4608576" y="1819656"/>
            <a:ext cx="292608" cy="292608"/>
          </a:xfrm>
          <a:prstGeom prst="rect">
            <a:avLst/>
          </a:prstGeom>
        </p:spPr>
      </p:pic>
      <p:sp>
        <p:nvSpPr>
          <p:cNvPr id="8" name="icon circle"/>
          <p:cNvSpPr/>
          <p:nvPr/>
        </p:nvSpPr>
        <p:spPr>
          <a:xfrm>
            <a:off x="8229600" y="1691640"/>
            <a:ext cx="548640" cy="548640"/>
          </a:xfrm>
          <a:prstGeom prst="ellipse">
            <a:avLst/>
          </a:prstGeom>
          <a:solidFill>
            <a:schemeClr val="accent5"/>
          </a:solidFill>
          <a:ln w="6350">
            <a:solidFill>
              <a:schemeClr val="accent5"/>
            </a:solidFill>
            <a:prstDash val="solid"/>
          </a:ln>
        </p:spPr>
      </p:sp>
      <p:pic>
        <p:nvPicPr>
          <p:cNvPr id="9" name="Image 2" descr="FaCloud">    </p:cNvPr>
          <p:cNvPicPr>
            <a:picLocks noChangeAspect="1"/>
          </p:cNvPicPr>
          <p:nvPr/>
        </p:nvPicPr>
        <p:blipFill>
          <a:blip r:embed="rId3"/>
          <a:stretch>
            <a:fillRect/>
          </a:stretch>
        </p:blipFill>
        <p:spPr>
          <a:xfrm>
            <a:off x="8357616" y="1819656"/>
            <a:ext cx="292608" cy="292608"/>
          </a:xfrm>
          <a:prstGeom prst="rect">
            <a:avLst/>
          </a:prstGeom>
        </p:spPr>
      </p:pic>
      <p:sp>
        <p:nvSpPr>
          <p:cNvPr id="10" name="card Kubernetes"/>
          <p:cNvSpPr/>
          <p:nvPr/>
        </p:nvSpPr>
        <p:spPr>
          <a:xfrm>
            <a:off x="548640" y="2423160"/>
            <a:ext cx="3566160" cy="3474720"/>
          </a:xfrm>
          <a:prstGeom prst="roundRect">
            <a:avLst>
              <a:gd name="adj" fmla="val 2105"/>
            </a:avLst>
          </a:prstGeom>
          <a:solidFill>
            <a:schemeClr val="bg2"/>
          </a:solidFill>
          <a:ln w="9525">
            <a:solidFill>
              <a:schemeClr val="bg2"/>
            </a:solidFill>
            <a:prstDash val="solid"/>
          </a:ln>
        </p:spPr>
      </p:sp>
      <p:sp>
        <p:nvSpPr>
          <p:cNvPr id="11" name="text Kubernetes"/>
          <p:cNvSpPr txBox="1"/>
          <p:nvPr/>
        </p:nvSpPr>
        <p:spPr>
          <a:xfrm>
            <a:off x="731520" y="2560320"/>
            <a:ext cx="3200400" cy="32004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Kubernetes</a:t>
            </a:r>
            <a:endParaRPr lang="en-US" sz="2000" dirty="0"/>
          </a:p>
          <a:p>
            <a:pPr marL="177800" indent="-177800">
              <a:spcAft>
                <a:spcPts val="400"/>
              </a:spcAft>
              <a:buSzPct val="100000"/>
              <a:buChar char="•"/>
            </a:pPr>
            <a:r>
              <a:rPr lang="en-US" sz="1700" dirty="0">
                <a:solidFill>
                  <a:schemeClr val="tx1"/>
                </a:solidFill>
              </a:rPr>
              <a:t>DaemonSet: logs y OTLP</a:t>
            </a:r>
            <a:endParaRPr lang="en-US" sz="2000" dirty="0"/>
          </a:p>
          <a:p>
            <a:pPr marL="177800" indent="-177800">
              <a:spcAft>
                <a:spcPts val="400"/>
              </a:spcAft>
              <a:buSzPct val="100000"/>
              <a:buChar char="•"/>
            </a:pPr>
            <a:r>
              <a:rPr lang="en-US" sz="1700" dirty="0">
                <a:solidFill>
                  <a:schemeClr val="tx1"/>
                </a:solidFill>
              </a:rPr>
              <a:t>StatefulSet: scrape y nivel 2</a:t>
            </a:r>
            <a:endParaRPr lang="en-US" sz="2000" dirty="0"/>
          </a:p>
          <a:p>
            <a:pPr marL="177800" indent="-177800">
              <a:spcAft>
                <a:spcPts val="400"/>
              </a:spcAft>
              <a:buSzPct val="100000"/>
              <a:buChar char="•"/>
            </a:pPr>
            <a:r>
              <a:rPr lang="en-US" sz="1700" dirty="0">
                <a:solidFill>
                  <a:schemeClr val="tx1"/>
                </a:solidFill>
              </a:rPr>
              <a:t>Deployment: eventos y gateways</a:t>
            </a:r>
            <a:endParaRPr lang="en-US" sz="2000" dirty="0"/>
          </a:p>
          <a:p>
            <a:pPr marL="177800" indent="-177800">
              <a:spcAft>
                <a:spcPts val="400"/>
              </a:spcAft>
              <a:buSzPct val="100000"/>
              <a:buChar char="•"/>
            </a:pPr>
            <a:r>
              <a:rPr lang="en-US" sz="1700" dirty="0">
                <a:solidFill>
                  <a:schemeClr val="tx1"/>
                </a:solidFill>
              </a:rPr>
              <a:t>RBAC y EndpointSlice</a:t>
            </a:r>
            <a:endParaRPr lang="en-US" sz="2000" dirty="0"/>
          </a:p>
        </p:txBody>
      </p:sp>
      <p:sp>
        <p:nvSpPr>
          <p:cNvPr id="12" name="card AWS"/>
          <p:cNvSpPr/>
          <p:nvPr/>
        </p:nvSpPr>
        <p:spPr>
          <a:xfrm>
            <a:off x="4297680" y="2423160"/>
            <a:ext cx="3566160" cy="3474720"/>
          </a:xfrm>
          <a:prstGeom prst="roundRect">
            <a:avLst>
              <a:gd name="adj" fmla="val 2105"/>
            </a:avLst>
          </a:prstGeom>
          <a:solidFill>
            <a:schemeClr val="bg2"/>
          </a:solidFill>
          <a:ln w="9525">
            <a:solidFill>
              <a:schemeClr val="bg2"/>
            </a:solidFill>
            <a:prstDash val="solid"/>
          </a:ln>
        </p:spPr>
      </p:sp>
      <p:sp>
        <p:nvSpPr>
          <p:cNvPr id="13" name="text AWS"/>
          <p:cNvSpPr txBox="1"/>
          <p:nvPr/>
        </p:nvSpPr>
        <p:spPr>
          <a:xfrm>
            <a:off x="4480560" y="2560320"/>
            <a:ext cx="3200400" cy="32004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AWS</a:t>
            </a:r>
            <a:endParaRPr lang="en-US" sz="2000" dirty="0"/>
          </a:p>
          <a:p>
            <a:pPr marL="177800" indent="-177800">
              <a:spcAft>
                <a:spcPts val="400"/>
              </a:spcAft>
              <a:buSzPct val="100000"/>
              <a:buChar char="•"/>
            </a:pPr>
            <a:r>
              <a:rPr lang="en-US" sz="1700" dirty="0">
                <a:solidFill>
                  <a:schemeClr val="tx1"/>
                </a:solidFill>
              </a:rPr>
              <a:t>Rol IAM con external_id</a:t>
            </a:r>
            <a:endParaRPr lang="en-US" sz="2000" dirty="0"/>
          </a:p>
          <a:p>
            <a:pPr marL="177800" indent="-177800">
              <a:spcAft>
                <a:spcPts val="400"/>
              </a:spcAft>
              <a:buSzPct val="100000"/>
              <a:buChar char="•"/>
            </a:pPr>
            <a:r>
              <a:rPr lang="en-US" sz="1700" dirty="0">
                <a:solidFill>
                  <a:schemeClr val="tx1"/>
                </a:solidFill>
              </a:rPr>
              <a:t>Scrape de CloudWatch sin agente</a:t>
            </a:r>
            <a:endParaRPr lang="en-US" sz="2000" dirty="0"/>
          </a:p>
          <a:p>
            <a:pPr marL="177800" indent="-177800">
              <a:spcAft>
                <a:spcPts val="400"/>
              </a:spcAft>
              <a:buSzPct val="100000"/>
              <a:buChar char="•"/>
            </a:pPr>
            <a:r>
              <a:rPr lang="en-US" sz="1700" dirty="0">
                <a:solidFill>
                  <a:schemeClr val="tx1"/>
                </a:solidFill>
              </a:rPr>
              <a:t>Metric streams por Firehose</a:t>
            </a:r>
            <a:endParaRPr lang="en-US" sz="2000" dirty="0"/>
          </a:p>
          <a:p>
            <a:pPr marL="177800" indent="-177800">
              <a:spcAft>
                <a:spcPts val="400"/>
              </a:spcAft>
              <a:buSzPct val="100000"/>
              <a:buChar char="•"/>
            </a:pPr>
            <a:r>
              <a:rPr lang="en-US" sz="1700" dirty="0">
                <a:solidFill>
                  <a:schemeClr val="tx1"/>
                </a:solidFill>
              </a:rPr>
              <a:t>Alcance por servicio por validar</a:t>
            </a:r>
            <a:endParaRPr lang="en-US" sz="2000" dirty="0"/>
          </a:p>
        </p:txBody>
      </p:sp>
      <p:sp>
        <p:nvSpPr>
          <p:cNvPr id="14" name="card Azure"/>
          <p:cNvSpPr/>
          <p:nvPr/>
        </p:nvSpPr>
        <p:spPr>
          <a:xfrm>
            <a:off x="8046720" y="2423160"/>
            <a:ext cx="3593592" cy="3474720"/>
          </a:xfrm>
          <a:prstGeom prst="roundRect">
            <a:avLst>
              <a:gd name="adj" fmla="val 2105"/>
            </a:avLst>
          </a:prstGeom>
          <a:solidFill>
            <a:schemeClr val="bg2"/>
          </a:solidFill>
          <a:ln w="9525">
            <a:solidFill>
              <a:schemeClr val="bg2"/>
            </a:solidFill>
            <a:prstDash val="solid"/>
          </a:ln>
        </p:spPr>
      </p:sp>
      <p:sp>
        <p:nvSpPr>
          <p:cNvPr id="15" name="text Azure"/>
          <p:cNvSpPr txBox="1"/>
          <p:nvPr/>
        </p:nvSpPr>
        <p:spPr>
          <a:xfrm>
            <a:off x="8229600" y="2560320"/>
            <a:ext cx="3227832" cy="32004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Azure</a:t>
            </a:r>
            <a:endParaRPr lang="en-US" sz="2000" dirty="0"/>
          </a:p>
          <a:p>
            <a:pPr marL="177800" indent="-177800">
              <a:spcAft>
                <a:spcPts val="400"/>
              </a:spcAft>
              <a:buSzPct val="100000"/>
              <a:buChar char="•"/>
            </a:pPr>
            <a:r>
              <a:rPr lang="en-US" sz="1700" dirty="0">
                <a:solidFill>
                  <a:schemeClr val="tx1"/>
                </a:solidFill>
              </a:rPr>
              <a:t>Service Principal sin agente</a:t>
            </a:r>
            <a:endParaRPr lang="en-US" sz="2000" dirty="0"/>
          </a:p>
          <a:p>
            <a:pPr marL="177800" indent="-177800">
              <a:spcAft>
                <a:spcPts val="400"/>
              </a:spcAft>
              <a:buSzPct val="100000"/>
              <a:buChar char="•"/>
            </a:pPr>
            <a:r>
              <a:rPr lang="en-US" sz="1700" dirty="0">
                <a:solidFill>
                  <a:schemeClr val="tx1"/>
                </a:solidFill>
              </a:rPr>
              <a:t>Event Hubs para logs</a:t>
            </a:r>
            <a:endParaRPr lang="en-US" sz="2000" dirty="0"/>
          </a:p>
          <a:p>
            <a:pPr marL="177800" indent="-177800">
              <a:spcAft>
                <a:spcPts val="400"/>
              </a:spcAft>
              <a:buSzPct val="100000"/>
              <a:buChar char="•"/>
            </a:pPr>
            <a:r>
              <a:rPr lang="en-US" sz="1700" dirty="0">
                <a:solidFill>
                  <a:schemeClr val="tx1"/>
                </a:solidFill>
              </a:rPr>
              <a:t>Identidades administradas por validar</a:t>
            </a:r>
            <a:endParaRPr lang="en-US" sz="2000" dirty="0"/>
          </a:p>
          <a:p>
            <a:pPr marL="177800" indent="-177800">
              <a:spcAft>
                <a:spcPts val="400"/>
              </a:spcAft>
              <a:buSzPct val="100000"/>
              <a:buChar char="•"/>
            </a:pPr>
            <a:r>
              <a:rPr lang="en-US" sz="1700" dirty="0">
                <a:solidFill>
                  <a:schemeClr val="tx1"/>
                </a:solidFill>
              </a:rPr>
              <a:t>Alcance por servicio por validar</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Fleet Management: qué cubre y qué no</a:t>
            </a:r>
            <a:endParaRPr lang="en-US" sz="3400" dirty="0"/>
          </a:p>
        </p:txBody>
      </p:sp>
      <p:graphicFrame>
        <p:nvGraphicFramePr>
          <p:cNvPr id="15" name="Funciones de Fleet Management"/>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4572000"/>
                <a:gridCol w="1645920"/>
                <a:gridCol w="4873752"/>
              </a:tblGrid>
              <a:tr h="566928">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Función</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¿La cubre?</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Quién la cubre en su lugar</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Administración centralizada de agentes</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b="1" dirty="0">
                          <a:solidFill>
                            <a:srgbClr val="145C36"/>
                          </a:solidFill>
                          <a:latin typeface="Calibri" pitchFamily="34" charset="0"/>
                          <a:ea typeface="Calibri" pitchFamily="34" charset="-122"/>
                          <a:cs typeface="Calibri" pitchFamily="34" charset="-120"/>
                        </a:rPr>
                        <a:t>Sí</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Distribución de configuraciones</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b="1" dirty="0">
                          <a:solidFill>
                            <a:srgbClr val="145C36"/>
                          </a:solidFill>
                          <a:latin typeface="Calibri" pitchFamily="34" charset="0"/>
                          <a:ea typeface="Calibri" pitchFamily="34" charset="-122"/>
                          <a:cs typeface="Calibri" pitchFamily="34" charset="-120"/>
                        </a:rPr>
                        <a:t>Sí</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Observabilidad del propio agente</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b="1" dirty="0">
                          <a:solidFill>
                            <a:srgbClr val="145C36"/>
                          </a:solidFill>
                          <a:latin typeface="Calibri" pitchFamily="34" charset="0"/>
                          <a:ea typeface="Calibri" pitchFamily="34" charset="-122"/>
                          <a:cs typeface="Calibri" pitchFamily="34" charset="-120"/>
                        </a:rPr>
                        <a:t>Sí</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Gobierno GitOps</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b="1" dirty="0">
                          <a:solidFill>
                            <a:srgbClr val="7A4E00"/>
                          </a:solidFill>
                          <a:latin typeface="Calibri" pitchFamily="34" charset="0"/>
                          <a:ea typeface="Calibri" pitchFamily="34" charset="-122"/>
                          <a:cs typeface="Calibri" pitchFamily="34" charset="-120"/>
                        </a:rPr>
                        <a:t>Parcial</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FF0CC"/>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Git con revisión obligatoria</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Gestión de versiones de software</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b="1" dirty="0">
                          <a:solidFill>
                            <a:srgbClr val="8F2222"/>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ADCDC"/>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Helm, paquetes o automatización</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Aprovisionamiento de infraestructura</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b="1" dirty="0">
                          <a:solidFill>
                            <a:srgbClr val="8F2222"/>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ADCDC"/>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Terraform, Argo CD o Flux</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566928">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Descubrimiento y asignación de targets</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b="1" dirty="0">
                          <a:solidFill>
                            <a:srgbClr val="8F2222"/>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ADCDC"/>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discovery.* y clustering, o Target Allocator</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Un solo responsable por tipo de recurso</a:t>
            </a:r>
            <a:endParaRPr lang="en-US" sz="3400" dirty="0"/>
          </a:p>
        </p:txBody>
      </p:sp>
      <p:sp>
        <p:nvSpPr>
          <p:cNvPr id="4" name="box PR y validación"/>
          <p:cNvSpPr/>
          <p:nvPr/>
        </p:nvSpPr>
        <p:spPr>
          <a:xfrm>
            <a:off x="548640" y="1645920"/>
            <a:ext cx="3383280" cy="1005840"/>
          </a:xfrm>
          <a:prstGeom prst="roundRect">
            <a:avLst>
              <a:gd name="adj" fmla="val 7273"/>
            </a:avLst>
          </a:prstGeom>
          <a:solidFill>
            <a:schemeClr val="bg2"/>
          </a:solidFill>
          <a:ln w="12700">
            <a:solidFill>
              <a:schemeClr val="accent3"/>
            </a:solidFill>
            <a:prstDash val="solid"/>
          </a:ln>
        </p:spPr>
      </p:sp>
      <p:sp>
        <p:nvSpPr>
          <p:cNvPr id="5" name="Text 2"/>
          <p:cNvSpPr txBox="1"/>
          <p:nvPr/>
        </p:nvSpPr>
        <p:spPr>
          <a:xfrm>
            <a:off x="640080" y="1645920"/>
            <a:ext cx="3200400" cy="1005840"/>
          </a:xfrm>
          <a:prstGeom prst="rect">
            <a:avLst/>
          </a:prstGeom>
          <a:noFill/>
          <a:ln/>
        </p:spPr>
        <p:txBody>
          <a:bodyPr wrap="square" lIns="0" tIns="0" rIns="0" bIns="0" rtlCol="0" anchor="ctr"/>
          <a:lstStyle/>
          <a:p>
            <a:pPr algn="ctr" indent="0" marL="0">
              <a:buNone/>
            </a:pPr>
            <a:r>
              <a:rPr lang="en-US" sz="1400" b="1" dirty="0">
                <a:solidFill>
                  <a:schemeClr val="tx1"/>
                </a:solidFill>
              </a:rPr>
              <a:t>PR y validación</a:t>
            </a:r>
            <a:endParaRPr lang="en-US" sz="1400" dirty="0"/>
          </a:p>
          <a:p>
            <a:pPr algn="ctr" indent="0" marL="0">
              <a:buNone/>
            </a:pPr>
            <a:r>
              <a:rPr lang="en-US" sz="1200" dirty="0">
                <a:solidFill>
                  <a:schemeClr val="tx1"/>
                </a:solidFill>
              </a:rPr>
              <a:t>alloy validate, fmt, pruebas</a:t>
            </a:r>
            <a:endParaRPr lang="en-US" sz="1400" dirty="0"/>
          </a:p>
        </p:txBody>
      </p:sp>
      <p:sp>
        <p:nvSpPr>
          <p:cNvPr id="6" name="box Aprobación"/>
          <p:cNvSpPr/>
          <p:nvPr/>
        </p:nvSpPr>
        <p:spPr>
          <a:xfrm>
            <a:off x="4297680" y="1645920"/>
            <a:ext cx="3383280" cy="1005840"/>
          </a:xfrm>
          <a:prstGeom prst="roundRect">
            <a:avLst>
              <a:gd name="adj" fmla="val 7273"/>
            </a:avLst>
          </a:prstGeom>
          <a:solidFill>
            <a:schemeClr val="bg2"/>
          </a:solidFill>
          <a:ln w="12700">
            <a:solidFill>
              <a:schemeClr val="accent3"/>
            </a:solidFill>
            <a:prstDash val="solid"/>
          </a:ln>
        </p:spPr>
      </p:sp>
      <p:sp>
        <p:nvSpPr>
          <p:cNvPr id="7" name="Text 4"/>
          <p:cNvSpPr txBox="1"/>
          <p:nvPr/>
        </p:nvSpPr>
        <p:spPr>
          <a:xfrm>
            <a:off x="4389120" y="1645920"/>
            <a:ext cx="3200400" cy="1005840"/>
          </a:xfrm>
          <a:prstGeom prst="rect">
            <a:avLst/>
          </a:prstGeom>
          <a:noFill/>
          <a:ln/>
        </p:spPr>
        <p:txBody>
          <a:bodyPr wrap="square" lIns="0" tIns="0" rIns="0" bIns="0" rtlCol="0" anchor="ctr"/>
          <a:lstStyle/>
          <a:p>
            <a:pPr algn="ctr" indent="0" marL="0">
              <a:buNone/>
            </a:pPr>
            <a:r>
              <a:rPr lang="en-US" sz="1400" b="1" dirty="0">
                <a:solidFill>
                  <a:schemeClr val="tx1"/>
                </a:solidFill>
              </a:rPr>
              <a:t>Aprobación</a:t>
            </a:r>
            <a:endParaRPr lang="en-US" sz="1400" dirty="0"/>
          </a:p>
          <a:p>
            <a:pPr algn="ctr" indent="0" marL="0">
              <a:buNone/>
            </a:pPr>
            <a:r>
              <a:rPr lang="en-US" sz="1200" dirty="0">
                <a:solidFill>
                  <a:schemeClr val="tx1"/>
                </a:solidFill>
              </a:rPr>
              <a:t>CODEOWNERS por equipo</a:t>
            </a:r>
            <a:endParaRPr lang="en-US" sz="1400" dirty="0"/>
          </a:p>
        </p:txBody>
      </p:sp>
      <p:sp>
        <p:nvSpPr>
          <p:cNvPr id="8" name="box Sync a Fleet"/>
          <p:cNvSpPr/>
          <p:nvPr/>
        </p:nvSpPr>
        <p:spPr>
          <a:xfrm>
            <a:off x="8046720" y="1645920"/>
            <a:ext cx="3593592" cy="1005840"/>
          </a:xfrm>
          <a:prstGeom prst="roundRect">
            <a:avLst>
              <a:gd name="adj" fmla="val 7273"/>
            </a:avLst>
          </a:prstGeom>
          <a:solidFill>
            <a:schemeClr val="bg2"/>
          </a:solidFill>
          <a:ln w="12700">
            <a:solidFill>
              <a:schemeClr val="accent3"/>
            </a:solidFill>
            <a:prstDash val="solid"/>
          </a:ln>
        </p:spPr>
      </p:sp>
      <p:sp>
        <p:nvSpPr>
          <p:cNvPr id="9" name="Text 6"/>
          <p:cNvSpPr txBox="1"/>
          <p:nvPr/>
        </p:nvSpPr>
        <p:spPr>
          <a:xfrm>
            <a:off x="8138160" y="1645920"/>
            <a:ext cx="3410712" cy="1005840"/>
          </a:xfrm>
          <a:prstGeom prst="rect">
            <a:avLst/>
          </a:prstGeom>
          <a:noFill/>
          <a:ln/>
        </p:spPr>
        <p:txBody>
          <a:bodyPr wrap="square" lIns="0" tIns="0" rIns="0" bIns="0" rtlCol="0" anchor="ctr"/>
          <a:lstStyle/>
          <a:p>
            <a:pPr algn="ctr" indent="0" marL="0">
              <a:buNone/>
            </a:pPr>
            <a:r>
              <a:rPr lang="en-US" sz="1400" b="1" dirty="0">
                <a:solidFill>
                  <a:schemeClr val="tx1"/>
                </a:solidFill>
              </a:rPr>
              <a:t>Sync a Fleet</a:t>
            </a:r>
            <a:endParaRPr lang="en-US" sz="1400" dirty="0"/>
          </a:p>
          <a:p>
            <a:pPr algn="ctr" indent="0" marL="0">
              <a:buNone/>
            </a:pPr>
            <a:r>
              <a:rPr lang="en-US" sz="1200" dirty="0">
                <a:solidFill>
                  <a:schemeClr val="tx1"/>
                </a:solidFill>
              </a:rPr>
              <a:t>GitHub Action oficial</a:t>
            </a:r>
            <a:endParaRPr lang="en-US" sz="1400" dirty="0"/>
          </a:p>
        </p:txBody>
      </p:sp>
      <p:sp>
        <p:nvSpPr>
          <p:cNvPr id="10" name="arrow"/>
          <p:cNvSpPr/>
          <p:nvPr/>
        </p:nvSpPr>
        <p:spPr>
          <a:xfrm>
            <a:off x="3931920" y="2148840"/>
            <a:ext cx="365760" cy="0"/>
          </a:xfrm>
          <a:prstGeom prst="line">
            <a:avLst/>
          </a:prstGeom>
          <a:noFill/>
          <a:ln w="19050">
            <a:solidFill>
              <a:schemeClr val="accent3"/>
            </a:solidFill>
            <a:prstDash val="solid"/>
            <a:tailEnd type="triangle"/>
          </a:ln>
        </p:spPr>
      </p:sp>
      <p:sp>
        <p:nvSpPr>
          <p:cNvPr id="11" name="arrow"/>
          <p:cNvSpPr/>
          <p:nvPr/>
        </p:nvSpPr>
        <p:spPr>
          <a:xfrm>
            <a:off x="7680960" y="2148840"/>
            <a:ext cx="365760" cy="0"/>
          </a:xfrm>
          <a:prstGeom prst="line">
            <a:avLst/>
          </a:prstGeom>
          <a:noFill/>
          <a:ln w="19050">
            <a:solidFill>
              <a:schemeClr val="accent3"/>
            </a:solidFill>
            <a:prstDash val="solid"/>
            <a:tailEnd type="triangle"/>
          </a:ln>
        </p:spPr>
      </p:sp>
      <p:sp>
        <p:nvSpPr>
          <p:cNvPr id="12" name="box Argo CD o Flux"/>
          <p:cNvSpPr/>
          <p:nvPr/>
        </p:nvSpPr>
        <p:spPr>
          <a:xfrm>
            <a:off x="548640" y="3154680"/>
            <a:ext cx="3383280" cy="1005840"/>
          </a:xfrm>
          <a:prstGeom prst="roundRect">
            <a:avLst>
              <a:gd name="adj" fmla="val 7273"/>
            </a:avLst>
          </a:prstGeom>
          <a:solidFill>
            <a:schemeClr val="bg2"/>
          </a:solidFill>
          <a:ln w="12700">
            <a:solidFill>
              <a:schemeClr val="accent3"/>
            </a:solidFill>
            <a:prstDash val="solid"/>
          </a:ln>
        </p:spPr>
      </p:sp>
      <p:sp>
        <p:nvSpPr>
          <p:cNvPr id="13" name="Text 10"/>
          <p:cNvSpPr txBox="1"/>
          <p:nvPr/>
        </p:nvSpPr>
        <p:spPr>
          <a:xfrm>
            <a:off x="640080" y="3154680"/>
            <a:ext cx="3200400" cy="1005840"/>
          </a:xfrm>
          <a:prstGeom prst="rect">
            <a:avLst/>
          </a:prstGeom>
          <a:noFill/>
          <a:ln/>
        </p:spPr>
        <p:txBody>
          <a:bodyPr wrap="square" lIns="0" tIns="0" rIns="0" bIns="0" rtlCol="0" anchor="ctr"/>
          <a:lstStyle/>
          <a:p>
            <a:pPr algn="ctr" indent="0" marL="0">
              <a:buNone/>
            </a:pPr>
            <a:r>
              <a:rPr lang="en-US" sz="1400" b="1" dirty="0">
                <a:solidFill>
                  <a:schemeClr val="tx1"/>
                </a:solidFill>
              </a:rPr>
              <a:t>Argo CD o Flux</a:t>
            </a:r>
            <a:endParaRPr lang="en-US" sz="1400" dirty="0"/>
          </a:p>
          <a:p>
            <a:pPr algn="ctr" indent="0" marL="0">
              <a:buNone/>
            </a:pPr>
            <a:r>
              <a:rPr lang="en-US" sz="1200" dirty="0">
                <a:solidFill>
                  <a:schemeClr val="tx1"/>
                </a:solidFill>
              </a:rPr>
              <a:t>Helm de agentes y gateways</a:t>
            </a:r>
            <a:endParaRPr lang="en-US" sz="1400" dirty="0"/>
          </a:p>
        </p:txBody>
      </p:sp>
      <p:sp>
        <p:nvSpPr>
          <p:cNvPr id="14" name="box Terraform"/>
          <p:cNvSpPr/>
          <p:nvPr/>
        </p:nvSpPr>
        <p:spPr>
          <a:xfrm>
            <a:off x="4297680" y="3154680"/>
            <a:ext cx="3383280" cy="1005840"/>
          </a:xfrm>
          <a:prstGeom prst="roundRect">
            <a:avLst>
              <a:gd name="adj" fmla="val 7273"/>
            </a:avLst>
          </a:prstGeom>
          <a:solidFill>
            <a:schemeClr val="bg2"/>
          </a:solidFill>
          <a:ln w="12700">
            <a:solidFill>
              <a:schemeClr val="accent3"/>
            </a:solidFill>
            <a:prstDash val="solid"/>
          </a:ln>
        </p:spPr>
      </p:sp>
      <p:sp>
        <p:nvSpPr>
          <p:cNvPr id="15" name="Text 12"/>
          <p:cNvSpPr txBox="1"/>
          <p:nvPr/>
        </p:nvSpPr>
        <p:spPr>
          <a:xfrm>
            <a:off x="4389120" y="3154680"/>
            <a:ext cx="3200400" cy="1005840"/>
          </a:xfrm>
          <a:prstGeom prst="rect">
            <a:avLst/>
          </a:prstGeom>
          <a:noFill/>
          <a:ln/>
        </p:spPr>
        <p:txBody>
          <a:bodyPr wrap="square" lIns="0" tIns="0" rIns="0" bIns="0" rtlCol="0" anchor="ctr"/>
          <a:lstStyle/>
          <a:p>
            <a:pPr algn="ctr" indent="0" marL="0">
              <a:buNone/>
            </a:pPr>
            <a:r>
              <a:rPr lang="en-US" sz="1400" b="1" dirty="0">
                <a:solidFill>
                  <a:schemeClr val="tx1"/>
                </a:solidFill>
              </a:rPr>
              <a:t>Terraform</a:t>
            </a:r>
            <a:endParaRPr lang="en-US" sz="1400" dirty="0"/>
          </a:p>
          <a:p>
            <a:pPr algn="ctr" indent="0" marL="0">
              <a:buNone/>
            </a:pPr>
            <a:r>
              <a:rPr lang="en-US" sz="1200" dirty="0">
                <a:solidFill>
                  <a:schemeClr val="tx1"/>
                </a:solidFill>
              </a:rPr>
              <a:t>Tokens, políticas, atributos remotos</a:t>
            </a:r>
            <a:endParaRPr lang="en-US" sz="1400" dirty="0"/>
          </a:p>
        </p:txBody>
      </p:sp>
      <p:sp>
        <p:nvSpPr>
          <p:cNvPr id="16" name="box Agentes y gateways"/>
          <p:cNvSpPr/>
          <p:nvPr/>
        </p:nvSpPr>
        <p:spPr>
          <a:xfrm>
            <a:off x="548640" y="4754880"/>
            <a:ext cx="3383280" cy="1005840"/>
          </a:xfrm>
          <a:prstGeom prst="roundRect">
            <a:avLst>
              <a:gd name="adj" fmla="val 7273"/>
            </a:avLst>
          </a:prstGeom>
          <a:solidFill>
            <a:schemeClr val="bg2"/>
          </a:solidFill>
          <a:ln w="12700">
            <a:solidFill>
              <a:schemeClr val="accent3"/>
            </a:solidFill>
            <a:prstDash val="solid"/>
          </a:ln>
        </p:spPr>
      </p:sp>
      <p:sp>
        <p:nvSpPr>
          <p:cNvPr id="17" name="Text 14"/>
          <p:cNvSpPr txBox="1"/>
          <p:nvPr/>
        </p:nvSpPr>
        <p:spPr>
          <a:xfrm>
            <a:off x="640080" y="4754880"/>
            <a:ext cx="3200400" cy="1005840"/>
          </a:xfrm>
          <a:prstGeom prst="rect">
            <a:avLst/>
          </a:prstGeom>
          <a:noFill/>
          <a:ln/>
        </p:spPr>
        <p:txBody>
          <a:bodyPr wrap="square" lIns="0" tIns="0" rIns="0" bIns="0" rtlCol="0" anchor="ctr"/>
          <a:lstStyle/>
          <a:p>
            <a:pPr algn="ctr" indent="0" marL="0">
              <a:buNone/>
            </a:pPr>
            <a:r>
              <a:rPr lang="en-US" sz="1400" b="1" dirty="0">
                <a:solidFill>
                  <a:schemeClr val="tx1"/>
                </a:solidFill>
              </a:rPr>
              <a:t>Agentes y gateways</a:t>
            </a:r>
            <a:endParaRPr lang="en-US" sz="1400" dirty="0"/>
          </a:p>
          <a:p>
            <a:pPr algn="ctr" indent="0" marL="0">
              <a:buNone/>
            </a:pPr>
            <a:r>
              <a:rPr lang="en-US" sz="1200" dirty="0">
                <a:solidFill>
                  <a:schemeClr val="tx1"/>
                </a:solidFill>
              </a:rPr>
              <a:t>Sondean y aplican</a:t>
            </a:r>
            <a:endParaRPr lang="en-US" sz="1400" dirty="0"/>
          </a:p>
        </p:txBody>
      </p:sp>
      <p:sp>
        <p:nvSpPr>
          <p:cNvPr id="18" name="box Fleet Management"/>
          <p:cNvSpPr/>
          <p:nvPr/>
        </p:nvSpPr>
        <p:spPr>
          <a:xfrm>
            <a:off x="8046720" y="4754880"/>
            <a:ext cx="3593592" cy="1005840"/>
          </a:xfrm>
          <a:prstGeom prst="roundRect">
            <a:avLst>
              <a:gd name="adj" fmla="val 7273"/>
            </a:avLst>
          </a:prstGeom>
          <a:solidFill>
            <a:schemeClr val="bg2"/>
          </a:solidFill>
          <a:ln w="25400">
            <a:solidFill>
              <a:schemeClr val="accent1"/>
            </a:solidFill>
            <a:prstDash val="solid"/>
          </a:ln>
        </p:spPr>
      </p:sp>
      <p:sp>
        <p:nvSpPr>
          <p:cNvPr id="19" name="Text 16"/>
          <p:cNvSpPr txBox="1"/>
          <p:nvPr/>
        </p:nvSpPr>
        <p:spPr>
          <a:xfrm>
            <a:off x="8138160" y="4754880"/>
            <a:ext cx="3410712" cy="1005840"/>
          </a:xfrm>
          <a:prstGeom prst="rect">
            <a:avLst/>
          </a:prstGeom>
          <a:noFill/>
          <a:ln/>
        </p:spPr>
        <p:txBody>
          <a:bodyPr wrap="square" lIns="0" tIns="0" rIns="0" bIns="0" rtlCol="0" anchor="ctr"/>
          <a:lstStyle/>
          <a:p>
            <a:pPr algn="ctr" indent="0" marL="0">
              <a:buNone/>
            </a:pPr>
            <a:r>
              <a:rPr lang="en-US" sz="1400" b="1" dirty="0">
                <a:solidFill>
                  <a:schemeClr val="tx1"/>
                </a:solidFill>
              </a:rPr>
              <a:t>Fleet Management</a:t>
            </a:r>
            <a:endParaRPr lang="en-US" sz="1400" dirty="0"/>
          </a:p>
          <a:p>
            <a:pPr algn="ctr" indent="0" marL="0">
              <a:buNone/>
            </a:pPr>
            <a:r>
              <a:rPr lang="en-US" sz="1200" dirty="0">
                <a:solidFill>
                  <a:schemeClr val="tx1"/>
                </a:solidFill>
              </a:rPr>
              <a:t>Pipelines y atributos</a:t>
            </a:r>
            <a:endParaRPr lang="en-US" sz="1400" dirty="0"/>
          </a:p>
        </p:txBody>
      </p:sp>
      <p:sp>
        <p:nvSpPr>
          <p:cNvPr id="20" name="arrow"/>
          <p:cNvSpPr/>
          <p:nvPr/>
        </p:nvSpPr>
        <p:spPr>
          <a:xfrm>
            <a:off x="2240280" y="4160520"/>
            <a:ext cx="0" cy="594360"/>
          </a:xfrm>
          <a:prstGeom prst="line">
            <a:avLst/>
          </a:prstGeom>
          <a:noFill/>
          <a:ln w="19050">
            <a:solidFill>
              <a:schemeClr val="accent3"/>
            </a:solidFill>
            <a:prstDash val="solid"/>
            <a:tailEnd type="triangle"/>
          </a:ln>
        </p:spPr>
      </p:sp>
      <p:sp>
        <p:nvSpPr>
          <p:cNvPr id="21" name="arrow"/>
          <p:cNvSpPr/>
          <p:nvPr/>
        </p:nvSpPr>
        <p:spPr>
          <a:xfrm>
            <a:off x="5989320" y="4160520"/>
            <a:ext cx="2057400" cy="868680"/>
          </a:xfrm>
          <a:prstGeom prst="line">
            <a:avLst/>
          </a:prstGeom>
          <a:noFill/>
          <a:ln w="19050">
            <a:solidFill>
              <a:schemeClr val="accent3"/>
            </a:solidFill>
            <a:prstDash val="solid"/>
            <a:tailEnd type="triangle"/>
          </a:ln>
        </p:spPr>
      </p:sp>
      <p:sp>
        <p:nvSpPr>
          <p:cNvPr id="22" name="arrow"/>
          <p:cNvSpPr/>
          <p:nvPr/>
        </p:nvSpPr>
        <p:spPr>
          <a:xfrm>
            <a:off x="9829800" y="2651760"/>
            <a:ext cx="0" cy="2103120"/>
          </a:xfrm>
          <a:prstGeom prst="line">
            <a:avLst/>
          </a:prstGeom>
          <a:noFill/>
          <a:ln w="19050">
            <a:solidFill>
              <a:schemeClr val="accent3"/>
            </a:solidFill>
            <a:prstDash val="solid"/>
            <a:tailEnd type="triangle"/>
          </a:ln>
        </p:spPr>
      </p:sp>
      <p:sp>
        <p:nvSpPr>
          <p:cNvPr id="23" name="arrow"/>
          <p:cNvSpPr/>
          <p:nvPr/>
        </p:nvSpPr>
        <p:spPr>
          <a:xfrm flipH="1">
            <a:off x="3931920" y="5257800"/>
            <a:ext cx="4114800" cy="0"/>
          </a:xfrm>
          <a:prstGeom prst="line">
            <a:avLst/>
          </a:prstGeom>
          <a:noFill/>
          <a:ln w="19050">
            <a:solidFill>
              <a:schemeClr val="accent3"/>
            </a:solidFill>
            <a:prstDash val="dash"/>
            <a:tailEnd type="triangle"/>
          </a:ln>
        </p:spPr>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Gobierno por etiquetas en tres planos</a:t>
            </a:r>
            <a:endParaRPr lang="en-US" sz="3400" dirty="0"/>
          </a:p>
        </p:txBody>
      </p:sp>
      <p:sp>
        <p:nvSpPr>
          <p:cNvPr id="4" name="icon circle"/>
          <p:cNvSpPr/>
          <p:nvPr/>
        </p:nvSpPr>
        <p:spPr>
          <a:xfrm>
            <a:off x="731520" y="1645920"/>
            <a:ext cx="548640" cy="548640"/>
          </a:xfrm>
          <a:prstGeom prst="ellipse">
            <a:avLst/>
          </a:prstGeom>
          <a:solidFill>
            <a:schemeClr val="accent1"/>
          </a:solidFill>
          <a:ln w="6350">
            <a:solidFill>
              <a:schemeClr val="accent1"/>
            </a:solidFill>
            <a:prstDash val="solid"/>
          </a:ln>
        </p:spPr>
      </p:sp>
      <p:pic>
        <p:nvPicPr>
          <p:cNvPr id="5" name="Image 0" descr="FaLayerGroup">    </p:cNvPr>
          <p:cNvPicPr>
            <a:picLocks noChangeAspect="1"/>
          </p:cNvPicPr>
          <p:nvPr/>
        </p:nvPicPr>
        <p:blipFill>
          <a:blip r:embed="rId1"/>
          <a:stretch>
            <a:fillRect/>
          </a:stretch>
        </p:blipFill>
        <p:spPr>
          <a:xfrm>
            <a:off x="859536" y="1773936"/>
            <a:ext cx="292608" cy="292608"/>
          </a:xfrm>
          <a:prstGeom prst="rect">
            <a:avLst/>
          </a:prstGeom>
        </p:spPr>
      </p:pic>
      <p:sp>
        <p:nvSpPr>
          <p:cNvPr id="6" name="icon circle"/>
          <p:cNvSpPr/>
          <p:nvPr/>
        </p:nvSpPr>
        <p:spPr>
          <a:xfrm>
            <a:off x="4480560" y="1645920"/>
            <a:ext cx="548640" cy="548640"/>
          </a:xfrm>
          <a:prstGeom prst="ellipse">
            <a:avLst/>
          </a:prstGeom>
          <a:solidFill>
            <a:schemeClr val="accent2"/>
          </a:solidFill>
          <a:ln w="6350">
            <a:solidFill>
              <a:schemeClr val="accent2"/>
            </a:solidFill>
            <a:prstDash val="solid"/>
          </a:ln>
        </p:spPr>
      </p:sp>
      <p:pic>
        <p:nvPicPr>
          <p:cNvPr id="7" name="Image 1" descr="FaSearch">    </p:cNvPr>
          <p:cNvPicPr>
            <a:picLocks noChangeAspect="1"/>
          </p:cNvPicPr>
          <p:nvPr/>
        </p:nvPicPr>
        <p:blipFill>
          <a:blip r:embed="rId2"/>
          <a:stretch>
            <a:fillRect/>
          </a:stretch>
        </p:blipFill>
        <p:spPr>
          <a:xfrm>
            <a:off x="4608576" y="1773936"/>
            <a:ext cx="292608" cy="292608"/>
          </a:xfrm>
          <a:prstGeom prst="rect">
            <a:avLst/>
          </a:prstGeom>
        </p:spPr>
      </p:pic>
      <p:sp>
        <p:nvSpPr>
          <p:cNvPr id="8" name="icon circle"/>
          <p:cNvSpPr/>
          <p:nvPr/>
        </p:nvSpPr>
        <p:spPr>
          <a:xfrm>
            <a:off x="8229600" y="1645920"/>
            <a:ext cx="548640" cy="548640"/>
          </a:xfrm>
          <a:prstGeom prst="ellipse">
            <a:avLst/>
          </a:prstGeom>
          <a:solidFill>
            <a:schemeClr val="accent5"/>
          </a:solidFill>
          <a:ln w="6350">
            <a:solidFill>
              <a:schemeClr val="accent5"/>
            </a:solidFill>
            <a:prstDash val="solid"/>
          </a:ln>
        </p:spPr>
      </p:sp>
      <p:pic>
        <p:nvPicPr>
          <p:cNvPr id="9" name="Image 2" descr="FaShieldAlt">    </p:cNvPr>
          <p:cNvPicPr>
            <a:picLocks noChangeAspect="1"/>
          </p:cNvPicPr>
          <p:nvPr/>
        </p:nvPicPr>
        <p:blipFill>
          <a:blip r:embed="rId3"/>
          <a:stretch>
            <a:fillRect/>
          </a:stretch>
        </p:blipFill>
        <p:spPr>
          <a:xfrm>
            <a:off x="8357616" y="1773936"/>
            <a:ext cx="292608" cy="292608"/>
          </a:xfrm>
          <a:prstGeom prst="rect">
            <a:avLst/>
          </a:prstGeom>
        </p:spPr>
      </p:pic>
      <p:sp>
        <p:nvSpPr>
          <p:cNvPr id="10" name="card A. Administración"/>
          <p:cNvSpPr/>
          <p:nvPr/>
        </p:nvSpPr>
        <p:spPr>
          <a:xfrm>
            <a:off x="548640" y="2377440"/>
            <a:ext cx="3566160" cy="2651760"/>
          </a:xfrm>
          <a:prstGeom prst="roundRect">
            <a:avLst>
              <a:gd name="adj" fmla="val 2759"/>
            </a:avLst>
          </a:prstGeom>
          <a:solidFill>
            <a:schemeClr val="bg2"/>
          </a:solidFill>
          <a:ln w="9525">
            <a:solidFill>
              <a:schemeClr val="bg2"/>
            </a:solidFill>
            <a:prstDash val="solid"/>
          </a:ln>
        </p:spPr>
      </p:sp>
      <p:sp>
        <p:nvSpPr>
          <p:cNvPr id="11" name="text A. Administración"/>
          <p:cNvSpPr txBox="1"/>
          <p:nvPr/>
        </p:nvSpPr>
        <p:spPr>
          <a:xfrm>
            <a:off x="731520" y="2514600"/>
            <a:ext cx="3200400" cy="23774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A. Administración</a:t>
            </a:r>
            <a:endParaRPr lang="en-US" sz="2000" dirty="0"/>
          </a:p>
          <a:p>
            <a:pPr marL="177800" indent="-177800">
              <a:spcAft>
                <a:spcPts val="400"/>
              </a:spcAft>
              <a:buSzPct val="100000"/>
              <a:buChar char="•"/>
            </a:pPr>
            <a:r>
              <a:rPr lang="en-US" sz="1700" dirty="0">
                <a:solidFill>
                  <a:schemeClr val="tx1"/>
                </a:solidFill>
              </a:rPr>
              <a:t>Clasifican agentes y deciden pipelines</a:t>
            </a:r>
            <a:endParaRPr lang="en-US" sz="2000" dirty="0"/>
          </a:p>
          <a:p>
            <a:pPr marL="177800" indent="-177800">
              <a:spcAft>
                <a:spcPts val="400"/>
              </a:spcAft>
              <a:buSzPct val="100000"/>
              <a:buChar char="•"/>
            </a:pPr>
            <a:r>
              <a:rPr lang="en-US" sz="1700" dirty="0">
                <a:solidFill>
                  <a:schemeClr val="tx1"/>
                </a:solidFill>
              </a:rPr>
              <a:t>Máximo 25 locales y 100 remotos</a:t>
            </a:r>
            <a:endParaRPr lang="en-US" sz="2000" dirty="0"/>
          </a:p>
        </p:txBody>
      </p:sp>
      <p:sp>
        <p:nvSpPr>
          <p:cNvPr id="12" name="card B. Telemetría"/>
          <p:cNvSpPr/>
          <p:nvPr/>
        </p:nvSpPr>
        <p:spPr>
          <a:xfrm>
            <a:off x="4297680" y="2377440"/>
            <a:ext cx="3566160" cy="2651760"/>
          </a:xfrm>
          <a:prstGeom prst="roundRect">
            <a:avLst>
              <a:gd name="adj" fmla="val 2759"/>
            </a:avLst>
          </a:prstGeom>
          <a:solidFill>
            <a:schemeClr val="bg2"/>
          </a:solidFill>
          <a:ln w="9525">
            <a:solidFill>
              <a:schemeClr val="bg2"/>
            </a:solidFill>
            <a:prstDash val="solid"/>
          </a:ln>
        </p:spPr>
      </p:sp>
      <p:sp>
        <p:nvSpPr>
          <p:cNvPr id="13" name="text B. Telemetría"/>
          <p:cNvSpPr txBox="1"/>
          <p:nvPr/>
        </p:nvSpPr>
        <p:spPr>
          <a:xfrm>
            <a:off x="4480560" y="2514600"/>
            <a:ext cx="3200400" cy="23774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B. Telemetría</a:t>
            </a:r>
            <a:endParaRPr lang="en-US" sz="2000" dirty="0"/>
          </a:p>
          <a:p>
            <a:pPr marL="177800" indent="-177800">
              <a:spcAft>
                <a:spcPts val="400"/>
              </a:spcAft>
              <a:buSzPct val="100000"/>
              <a:buChar char="•"/>
            </a:pPr>
            <a:r>
              <a:rPr lang="en-US" sz="1700" dirty="0">
                <a:solidFill>
                  <a:schemeClr val="tx1"/>
                </a:solidFill>
              </a:rPr>
              <a:t>Etiquetas y atributos hacia Grafana Cloud</a:t>
            </a:r>
            <a:endParaRPr lang="en-US" sz="2000" dirty="0"/>
          </a:p>
          <a:p>
            <a:pPr marL="177800" indent="-177800">
              <a:spcAft>
                <a:spcPts val="400"/>
              </a:spcAft>
              <a:buSzPct val="100000"/>
              <a:buChar char="•"/>
            </a:pPr>
            <a:r>
              <a:rPr lang="en-US" sz="1700" dirty="0">
                <a:solidFill>
                  <a:schemeClr val="tx1"/>
                </a:solidFill>
              </a:rPr>
              <a:t>Cada etiqueta nueva multiplica series</a:t>
            </a:r>
            <a:endParaRPr lang="en-US" sz="2000" dirty="0"/>
          </a:p>
        </p:txBody>
      </p:sp>
      <p:sp>
        <p:nvSpPr>
          <p:cNvPr id="14" name="card C. Identidad"/>
          <p:cNvSpPr/>
          <p:nvPr/>
        </p:nvSpPr>
        <p:spPr>
          <a:xfrm>
            <a:off x="8046720" y="2377440"/>
            <a:ext cx="3593592" cy="2651760"/>
          </a:xfrm>
          <a:prstGeom prst="roundRect">
            <a:avLst>
              <a:gd name="adj" fmla="val 2759"/>
            </a:avLst>
          </a:prstGeom>
          <a:solidFill>
            <a:schemeClr val="bg2"/>
          </a:solidFill>
          <a:ln w="9525">
            <a:solidFill>
              <a:schemeClr val="bg2"/>
            </a:solidFill>
            <a:prstDash val="solid"/>
          </a:ln>
        </p:spPr>
      </p:sp>
      <p:sp>
        <p:nvSpPr>
          <p:cNvPr id="15" name="text C. Identidad"/>
          <p:cNvSpPr txBox="1"/>
          <p:nvPr/>
        </p:nvSpPr>
        <p:spPr>
          <a:xfrm>
            <a:off x="8229600" y="2514600"/>
            <a:ext cx="3227832" cy="23774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C. Identidad</a:t>
            </a:r>
            <a:endParaRPr lang="en-US" sz="2000" dirty="0"/>
          </a:p>
          <a:p>
            <a:pPr marL="177800" indent="-177800">
              <a:spcAft>
                <a:spcPts val="400"/>
              </a:spcAft>
              <a:buSzPct val="100000"/>
              <a:buChar char="•"/>
            </a:pPr>
            <a:r>
              <a:rPr lang="en-US" sz="1700" dirty="0">
                <a:solidFill>
                  <a:schemeClr val="tx1"/>
                </a:solidFill>
              </a:rPr>
              <a:t>RBAC, tokens, protección de ramas</a:t>
            </a:r>
            <a:endParaRPr lang="en-US" sz="2000" dirty="0"/>
          </a:p>
          <a:p>
            <a:pPr marL="177800" indent="-177800">
              <a:spcAft>
                <a:spcPts val="400"/>
              </a:spcAft>
              <a:buSzPct val="100000"/>
              <a:buChar char="•"/>
            </a:pPr>
            <a:r>
              <a:rPr lang="en-US" sz="1700" dirty="0">
                <a:solidFill>
                  <a:schemeClr val="tx1"/>
                </a:solidFill>
              </a:rPr>
              <a:t>Independiente de las etiquetas</a:t>
            </a:r>
            <a:endParaRPr lang="en-US" sz="2000" dirty="0"/>
          </a:p>
        </p:txBody>
      </p:sp>
      <p:sp>
        <p:nvSpPr>
          <p:cNvPr id="16" name="Text 10"/>
          <p:cNvSpPr txBox="1"/>
          <p:nvPr/>
        </p:nvSpPr>
        <p:spPr>
          <a:xfrm>
            <a:off x="548640" y="5349240"/>
            <a:ext cx="11064240" cy="731520"/>
          </a:xfrm>
          <a:prstGeom prst="rect">
            <a:avLst/>
          </a:prstGeom>
          <a:noFill/>
          <a:ln/>
        </p:spPr>
        <p:txBody>
          <a:bodyPr wrap="square" lIns="0" tIns="0" rIns="0" bIns="0" rtlCol="0" anchor="ctr"/>
          <a:lstStyle/>
          <a:p>
            <a:pPr indent="0" marL="0">
              <a:buNone/>
            </a:pPr>
            <a:r>
              <a:rPr lang="en-US" sz="1400" dirty="0">
                <a:solidFill>
                  <a:schemeClr val="accent3"/>
                </a:solidFill>
              </a:rPr>
              <a:t>Taxonomía: environment · cloud_provider · region · account · cluster · team · application · role · signal · criticality · configuration_profile · cost_center</a:t>
            </a:r>
            <a:endParaRPr lang="en-US" sz="14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Seguridad y estabilidad: lo documentado</a:t>
            </a:r>
            <a:endParaRPr lang="en-US" sz="3400" dirty="0"/>
          </a:p>
        </p:txBody>
      </p:sp>
      <p:graphicFrame>
        <p:nvGraphicFramePr>
          <p:cNvPr id="18" name="Seguridad y estabilidad"/>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5486400"/>
                <a:gridCol w="3227832"/>
              </a:tblGrid>
              <a:tr h="62179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Tema</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Documentado</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A validar en piloto</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Compatibilidad</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Alloy GA con garantías; Contrib con cambios incompatibles por release</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Frecuencia real de roturas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Memoria y colas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memory_limiter; WAL en loki.write; colas con file_storage</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Perfil real bajo carga</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Recuperación</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Alloy vuelve a la última válida; el Supervisor no revierte</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Corte de red y configuración inválida</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Autenticación y TLS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otelcol.auth.* y extensiones de auth; bloques tls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Identidades administradas de Azure</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Secretos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sys.env, remote.vault, remote.kubernetes.secret; providers env y file</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Integración con el gestor corporativo</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2179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Aislamiento</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Stacks y tokens; RBAC de Fleet por stack</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Aislamiento por equipo en un stack</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Lock-in: concentrado en backend y sintaxis</a:t>
            </a:r>
            <a:endParaRPr lang="en-US" sz="3400" dirty="0"/>
          </a:p>
        </p:txBody>
      </p:sp>
      <p:graphicFrame>
        <p:nvGraphicFramePr>
          <p:cNvPr id="19" name="Lock-in por capa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4754880"/>
                <a:gridCol w="3959352"/>
              </a:tblGrid>
              <a:tr h="777240">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Capa</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Con Alloy</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600" b="1" dirty="0">
                          <a:solidFill>
                            <a:schemeClr val="bg1"/>
                          </a:solidFill>
                          <a:latin typeface="Calibri" pitchFamily="34" charset="0"/>
                          <a:ea typeface="Calibri" pitchFamily="34" charset="-122"/>
                          <a:cs typeface="Calibri" pitchFamily="34" charset="-120"/>
                        </a:rPr>
                        <a:t>Con Contrib</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77724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Instrumentación</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Portable: SDK OTel y OTLP</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Igual</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7724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Recolección</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Sintaxis Alloy; YAML con el motor OTel (preview)</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YAML upstream portable</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77724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Procesamiento</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Componentes otelcol.* portables; loki.process específico</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Procesadores upstream</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77240">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Backend</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Application Observability, Adaptive Telemetry y SLOs dependen de Grafana</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600" dirty="0">
                          <a:solidFill>
                            <a:schemeClr val="tx1"/>
                          </a:solidFill>
                          <a:latin typeface="Calibri" pitchFamily="34" charset="0"/>
                          <a:ea typeface="Calibri" pitchFamily="34" charset="-122"/>
                          <a:cs typeface="Calibri" pitchFamily="34" charset="-120"/>
                        </a:rPr>
                        <a:t>Igual</a:t>
                      </a:r>
                      <a:endParaRPr lang="en-US" sz="16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5" name="Text 1"/>
          <p:cNvSpPr txBox="1"/>
          <p:nvPr/>
        </p:nvSpPr>
        <p:spPr>
          <a:xfrm>
            <a:off x="548640" y="5486400"/>
            <a:ext cx="11064240" cy="640080"/>
          </a:xfrm>
          <a:prstGeom prst="rect">
            <a:avLst/>
          </a:prstGeom>
          <a:noFill/>
          <a:ln/>
        </p:spPr>
        <p:txBody>
          <a:bodyPr wrap="square" lIns="0" tIns="0" rIns="0" bIns="0" rtlCol="0" anchor="ctr"/>
          <a:lstStyle/>
          <a:p>
            <a:pPr indent="0" marL="0">
              <a:buNone/>
            </a:pPr>
            <a:r>
              <a:rPr lang="en-US" sz="1400" i="1" dirty="0">
                <a:solidFill>
                  <a:schemeClr val="accent3"/>
                </a:solidFill>
              </a:rPr>
              <a:t>Estándares: OTLP, convenciones semánticas, configuración en Git, procesamiento genérico separado del específico.</a:t>
            </a:r>
            <a:endParaRPr lang="en-US" sz="14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La híbrida duplica la complejidad</a:t>
            </a:r>
            <a:endParaRPr lang="en-US" sz="3400" dirty="0"/>
          </a:p>
        </p:txBody>
      </p:sp>
      <p:graphicFrame>
        <p:nvGraphicFramePr>
          <p:cNvPr id="4" name="Chart 0" descr=""/>
          <p:cNvGraphicFramePr/>
          <p:nvPr/>
        </p:nvGraphicFramePr>
        <p:xfrm>
          <a:off x="548640" y="1554480"/>
          <a:ext cx="7315200" cy="4572000"/>
        </p:xfrm>
        <a:graphic xmlns:a="http://schemas.openxmlformats.org/drawingml/2006/main">
          <a:graphicData uri="http://schemas.openxmlformats.org/drawingml/2006/chart">
            <c:chart xmlns:c="http://schemas.openxmlformats.org/drawingml/2006/chart" r:id="rId1"/>
          </a:graphicData>
        </a:graphic>
      </p:graphicFrame>
      <p:sp>
        <p:nvSpPr>
          <p:cNvPr id="5" name="card Qué la hace compleja"/>
          <p:cNvSpPr/>
          <p:nvPr/>
        </p:nvSpPr>
        <p:spPr>
          <a:xfrm>
            <a:off x="8138160" y="1645920"/>
            <a:ext cx="3502152" cy="4389120"/>
          </a:xfrm>
          <a:prstGeom prst="roundRect">
            <a:avLst>
              <a:gd name="adj" fmla="val 2089"/>
            </a:avLst>
          </a:prstGeom>
          <a:solidFill>
            <a:schemeClr val="bg2"/>
          </a:solidFill>
          <a:ln w="9525">
            <a:solidFill>
              <a:schemeClr val="bg2"/>
            </a:solidFill>
            <a:prstDash val="solid"/>
          </a:ln>
        </p:spPr>
      </p:sp>
      <p:sp>
        <p:nvSpPr>
          <p:cNvPr id="6" name="text Qué la hace compleja"/>
          <p:cNvSpPr txBox="1"/>
          <p:nvPr/>
        </p:nvSpPr>
        <p:spPr>
          <a:xfrm>
            <a:off x="8321040" y="1783080"/>
            <a:ext cx="3136392" cy="41148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Qué la hace compleja</a:t>
            </a:r>
            <a:endParaRPr lang="en-US" sz="2000" dirty="0"/>
          </a:p>
          <a:p>
            <a:pPr marL="177800" indent="-177800">
              <a:spcAft>
                <a:spcPts val="400"/>
              </a:spcAft>
              <a:buSzPct val="100000"/>
              <a:buChar char="•"/>
            </a:pPr>
            <a:r>
              <a:rPr lang="en-US" sz="1700" dirty="0">
                <a:solidFill>
                  <a:schemeClr val="tx1"/>
                </a:solidFill>
              </a:rPr>
              <a:t>Dos distribuciones y dos sintaxis</a:t>
            </a:r>
            <a:endParaRPr lang="en-US" sz="2000" dirty="0"/>
          </a:p>
          <a:p>
            <a:pPr marL="177800" indent="-177800">
              <a:spcAft>
                <a:spcPts val="400"/>
              </a:spcAft>
              <a:buSzPct val="100000"/>
              <a:buChar char="•"/>
            </a:pPr>
            <a:r>
              <a:rPr lang="en-US" sz="1700" dirty="0">
                <a:solidFill>
                  <a:schemeClr val="tx1"/>
                </a:solidFill>
              </a:rPr>
              <a:t>Un salto más para diagnosticar</a:t>
            </a:r>
            <a:endParaRPr lang="en-US" sz="2000" dirty="0"/>
          </a:p>
          <a:p>
            <a:pPr marL="177800" indent="-177800">
              <a:spcAft>
                <a:spcPts val="400"/>
              </a:spcAft>
              <a:buSzPct val="100000"/>
              <a:buChar char="•"/>
            </a:pPr>
            <a:r>
              <a:rPr lang="en-US" sz="1700" dirty="0">
                <a:solidFill>
                  <a:schemeClr val="tx1"/>
                </a:solidFill>
              </a:rPr>
              <a:t>Dos ciclos de upgrades</a:t>
            </a:r>
            <a:endParaRPr lang="en-US" sz="2000" dirty="0"/>
          </a:p>
          <a:p>
            <a:pPr marL="177800" indent="-177800">
              <a:spcAft>
                <a:spcPts val="400"/>
              </a:spcAft>
              <a:buSzPct val="100000"/>
              <a:buChar char="•"/>
            </a:pPr>
            <a:r>
              <a:rPr lang="en-US" sz="1700" dirty="0">
                <a:solidFill>
                  <a:schemeClr val="tx1"/>
                </a:solidFill>
              </a:rPr>
              <a:t>Sin capacidad nueva frente a Alloy</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Alloy lidera salvo portabilidad dominante</a:t>
            </a:r>
            <a:endParaRPr lang="en-US" sz="3400" dirty="0"/>
          </a:p>
        </p:txBody>
      </p:sp>
      <p:graphicFrame>
        <p:nvGraphicFramePr>
          <p:cNvPr id="4" name="Chart 0" descr=""/>
          <p:cNvGraphicFramePr/>
          <p:nvPr/>
        </p:nvGraphicFramePr>
        <p:xfrm>
          <a:off x="548640" y="1554480"/>
          <a:ext cx="11064240" cy="46634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La híbrida multiplica el esfuerzo operativo</a:t>
            </a:r>
            <a:endParaRPr lang="en-US" sz="3400" dirty="0"/>
          </a:p>
        </p:txBody>
      </p:sp>
      <p:graphicFrame>
        <p:nvGraphicFramePr>
          <p:cNvPr id="4" name="Chart 0" descr=""/>
          <p:cNvGraphicFramePr/>
          <p:nvPr/>
        </p:nvGraphicFramePr>
        <p:xfrm>
          <a:off x="548640" y="1554480"/>
          <a:ext cx="6766560" cy="4572000"/>
        </p:xfrm>
        <a:graphic xmlns:a="http://schemas.openxmlformats.org/drawingml/2006/main">
          <a:graphicData uri="http://schemas.openxmlformats.org/drawingml/2006/chart">
            <c:chart xmlns:c="http://schemas.openxmlformats.org/drawingml/2006/chart" r:id="rId1"/>
          </a:graphicData>
        </a:graphic>
      </p:graphicFrame>
      <p:sp>
        <p:nvSpPr>
          <p:cNvPr id="5" name="stat 2× a 3×"/>
          <p:cNvSpPr/>
          <p:nvPr/>
        </p:nvSpPr>
        <p:spPr>
          <a:xfrm>
            <a:off x="7589520" y="1645920"/>
            <a:ext cx="4050792" cy="1737360"/>
          </a:xfrm>
          <a:prstGeom prst="roundRect">
            <a:avLst>
              <a:gd name="adj" fmla="val 4211"/>
            </a:avLst>
          </a:prstGeom>
          <a:solidFill>
            <a:schemeClr val="bg2"/>
          </a:solidFill>
          <a:ln w="9525">
            <a:solidFill>
              <a:schemeClr val="bg2"/>
            </a:solidFill>
            <a:prstDash val="solid"/>
          </a:ln>
        </p:spPr>
      </p:sp>
      <p:sp>
        <p:nvSpPr>
          <p:cNvPr id="6" name="Text 2"/>
          <p:cNvSpPr txBox="1"/>
          <p:nvPr/>
        </p:nvSpPr>
        <p:spPr>
          <a:xfrm>
            <a:off x="7772400" y="1755648"/>
            <a:ext cx="3685032" cy="68580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 a 3×</a:t>
            </a:r>
            <a:endParaRPr lang="en-US" sz="3600" dirty="0"/>
          </a:p>
        </p:txBody>
      </p:sp>
      <p:sp>
        <p:nvSpPr>
          <p:cNvPr id="7" name="Text 3"/>
          <p:cNvSpPr txBox="1"/>
          <p:nvPr/>
        </p:nvSpPr>
        <p:spPr>
          <a:xfrm>
            <a:off x="7772400" y="2468880"/>
            <a:ext cx="3685032" cy="822960"/>
          </a:xfrm>
          <a:prstGeom prst="rect">
            <a:avLst/>
          </a:prstGeom>
          <a:noFill/>
          <a:ln/>
        </p:spPr>
        <p:txBody>
          <a:bodyPr wrap="square" lIns="0" tIns="0" rIns="0" bIns="0" rtlCol="0" anchor="t"/>
          <a:lstStyle/>
          <a:p>
            <a:pPr indent="0" marL="0">
              <a:buNone/>
            </a:pPr>
            <a:r>
              <a:rPr lang="en-US" sz="1300" dirty="0">
                <a:solidFill>
                  <a:schemeClr val="tx1"/>
                </a:solidFill>
              </a:rPr>
              <a:t>Esfuerzo de Contrib y de la híbrida frente a Alloy a 36 meses</a:t>
            </a:r>
            <a:endParaRPr lang="en-US" sz="1300" dirty="0"/>
          </a:p>
        </p:txBody>
      </p:sp>
      <p:sp>
        <p:nvSpPr>
          <p:cNvPr id="8" name="card Lectura"/>
          <p:cNvSpPr/>
          <p:nvPr/>
        </p:nvSpPr>
        <p:spPr>
          <a:xfrm>
            <a:off x="7589520" y="3611880"/>
            <a:ext cx="4050792" cy="2468880"/>
          </a:xfrm>
          <a:prstGeom prst="roundRect">
            <a:avLst>
              <a:gd name="adj" fmla="val 2963"/>
            </a:avLst>
          </a:prstGeom>
          <a:solidFill>
            <a:schemeClr val="bg2"/>
          </a:solidFill>
          <a:ln w="9525">
            <a:solidFill>
              <a:schemeClr val="bg2"/>
            </a:solidFill>
            <a:prstDash val="solid"/>
          </a:ln>
        </p:spPr>
      </p:sp>
      <p:sp>
        <p:nvSpPr>
          <p:cNvPr id="9" name="text Lectura"/>
          <p:cNvSpPr txBox="1"/>
          <p:nvPr/>
        </p:nvSpPr>
        <p:spPr>
          <a:xfrm>
            <a:off x="7772400" y="3749040"/>
            <a:ext cx="3685032" cy="219456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Lectura</a:t>
            </a:r>
            <a:endParaRPr lang="en-US" sz="2000" dirty="0"/>
          </a:p>
          <a:p>
            <a:pPr marL="177800" indent="-177800">
              <a:spcAft>
                <a:spcPts val="400"/>
              </a:spcAft>
              <a:buSzPct val="100000"/>
              <a:buChar char="•"/>
            </a:pPr>
            <a:r>
              <a:rPr lang="en-US" sz="1700" dirty="0">
                <a:solidFill>
                  <a:schemeClr val="tx1"/>
                </a:solidFill>
              </a:rPr>
              <a:t>Estimaciones del analista, sin benchmarks</a:t>
            </a:r>
            <a:endParaRPr lang="en-US" sz="2000" dirty="0"/>
          </a:p>
          <a:p>
            <a:pPr marL="177800" indent="-177800">
              <a:spcAft>
                <a:spcPts val="400"/>
              </a:spcAft>
              <a:buSzPct val="100000"/>
              <a:buChar char="•"/>
            </a:pPr>
            <a:r>
              <a:rPr lang="en-US" sz="1700" dirty="0">
                <a:solidFill>
                  <a:schemeClr val="tx1"/>
                </a:solidFill>
              </a:rPr>
              <a:t>Calibrar con el piloto</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Resumen de funcionalidades y resultado</a:t>
            </a:r>
            <a:endParaRPr lang="en-US" sz="3400" dirty="0"/>
          </a:p>
        </p:txBody>
      </p:sp>
      <p:graphicFrame>
        <p:nvGraphicFramePr>
          <p:cNvPr id="23" name="Resumen de matriz"/>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4023360"/>
                <a:gridCol w="1828800"/>
                <a:gridCol w="1828800"/>
                <a:gridCol w="3410712"/>
              </a:tblGrid>
              <a:tr h="475488">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Funcionalidad</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Alloy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Contrib</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Resultado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Kubernetes Monitoring</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6+4</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b="1" dirty="0">
                          <a:solidFill>
                            <a:srgbClr val="7A4E00"/>
                          </a:solidFill>
                          <a:latin typeface="Calibri" pitchFamily="34" charset="0"/>
                          <a:ea typeface="Calibri" pitchFamily="34" charset="-122"/>
                          <a:cs typeface="Calibri" pitchFamily="34" charset="-120"/>
                        </a:rPr>
                        <a:t>Parcial</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FF0CC"/>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Application Observability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b="1" dirty="0">
                          <a:solidFill>
                            <a:srgbClr val="145C36"/>
                          </a:solidFill>
                          <a:latin typeface="Calibri" pitchFamily="34" charset="0"/>
                          <a:ea typeface="Calibri" pitchFamily="34" charset="-122"/>
                          <a:cs typeface="Calibri" pitchFamily="34" charset="-120"/>
                        </a:rPr>
                        <a:t>Equivalente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Logs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3+3</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b="1" dirty="0">
                          <a:solidFill>
                            <a:srgbClr val="145C36"/>
                          </a:solidFill>
                          <a:latin typeface="Calibri" pitchFamily="34" charset="0"/>
                          <a:ea typeface="Calibri" pitchFamily="34" charset="-122"/>
                          <a:cs typeface="Calibri" pitchFamily="34" charset="-120"/>
                        </a:rPr>
                        <a:t>Equivalente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Traces y tail sampling</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4+4</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b="1" dirty="0">
                          <a:solidFill>
                            <a:srgbClr val="145C36"/>
                          </a:solidFill>
                          <a:latin typeface="Calibri" pitchFamily="34" charset="0"/>
                          <a:ea typeface="Calibri" pitchFamily="34" charset="-122"/>
                          <a:cs typeface="Calibri" pitchFamily="34" charset="-120"/>
                        </a:rPr>
                        <a:t>Equivalente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Fleet Management</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4+3</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6+5</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b="1" dirty="0">
                          <a:solidFill>
                            <a:srgbClr val="7A4E00"/>
                          </a:solidFill>
                          <a:latin typeface="Calibri" pitchFamily="34" charset="0"/>
                          <a:ea typeface="Calibri" pitchFamily="34" charset="-122"/>
                          <a:cs typeface="Calibri" pitchFamily="34" charset="-120"/>
                        </a:rPr>
                        <a:t>Con componentes adicionales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FF0CC"/>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Perfiles continuos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No aplica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b="1" dirty="0">
                          <a:solidFill>
                            <a:srgbClr val="8F2222"/>
                          </a:solidFill>
                          <a:latin typeface="Calibri" pitchFamily="34" charset="0"/>
                          <a:ea typeface="Calibri" pitchFamily="34" charset="-122"/>
                          <a:cs typeface="Calibri" pitchFamily="34" charset="-120"/>
                        </a:rPr>
                        <a:t>No equivalente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ADCDC"/>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Database Observability</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4+3</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b="1" dirty="0">
                          <a:solidFill>
                            <a:srgbClr val="7A4E00"/>
                          </a:solidFill>
                          <a:latin typeface="Calibri" pitchFamily="34" charset="0"/>
                          <a:ea typeface="Calibri" pitchFamily="34" charset="-122"/>
                          <a:cs typeface="Calibri" pitchFamily="34" charset="-120"/>
                        </a:rPr>
                        <a:t>Parcial</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FFF0CC"/>
                    </a:solidFill>
                  </a:tcPr>
                </a:tc>
              </a:tr>
              <a:tr h="475488">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AWS y Azure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3+2</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4+3</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b="1" dirty="0">
                          <a:solidFill>
                            <a:srgbClr val="145C36"/>
                          </a:solidFill>
                          <a:latin typeface="Calibri" pitchFamily="34" charset="0"/>
                          <a:ea typeface="Calibri" pitchFamily="34" charset="-122"/>
                          <a:cs typeface="Calibri" pitchFamily="34" charset="-120"/>
                        </a:rPr>
                        <a:t>Equivalente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rgbClr val="DDF3E6"/>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Piloto en cinco fases con criterios medibles</a:t>
            </a:r>
            <a:endParaRPr lang="en-US" sz="3400" dirty="0"/>
          </a:p>
        </p:txBody>
      </p:sp>
      <p:sp>
        <p:nvSpPr>
          <p:cNvPr id="4" name="fase 1"/>
          <p:cNvSpPr/>
          <p:nvPr/>
        </p:nvSpPr>
        <p:spPr>
          <a:xfrm>
            <a:off x="548640" y="1828800"/>
            <a:ext cx="2103120" cy="2651760"/>
          </a:xfrm>
          <a:prstGeom prst="roundRect">
            <a:avLst>
              <a:gd name="adj" fmla="val 3478"/>
            </a:avLst>
          </a:prstGeom>
          <a:solidFill>
            <a:schemeClr val="accent1"/>
          </a:solidFill>
          <a:ln w="6350">
            <a:solidFill>
              <a:schemeClr val="bg2"/>
            </a:solidFill>
            <a:prstDash val="solid"/>
          </a:ln>
        </p:spPr>
      </p:sp>
      <p:sp>
        <p:nvSpPr>
          <p:cNvPr id="5" name="Text 2"/>
          <p:cNvSpPr txBox="1"/>
          <p:nvPr/>
        </p:nvSpPr>
        <p:spPr>
          <a:xfrm>
            <a:off x="685800" y="1965960"/>
            <a:ext cx="1828800" cy="2377440"/>
          </a:xfrm>
          <a:prstGeom prst="rect">
            <a:avLst/>
          </a:prstGeom>
          <a:noFill/>
          <a:ln/>
        </p:spPr>
        <p:txBody>
          <a:bodyPr wrap="square" lIns="0" tIns="0" rIns="0" bIns="0" rtlCol="0" anchor="t"/>
          <a:lstStyle/>
          <a:p>
            <a:pPr indent="0" marL="0">
              <a:spcAft>
                <a:spcPts val="800"/>
              </a:spcAft>
              <a:buNone/>
            </a:pPr>
            <a:r>
              <a:rPr lang="en-US" sz="2000" b="1" dirty="0">
                <a:solidFill>
                  <a:schemeClr val="bg1"/>
                </a:solidFill>
                <a:latin typeface="Cambria" pitchFamily="34" charset="0"/>
                <a:ea typeface="Cambria" pitchFamily="34" charset="-122"/>
                <a:cs typeface="Cambria" pitchFamily="34" charset="-120"/>
              </a:rPr>
              <a:t>1. Diseño</a:t>
            </a:r>
            <a:endParaRPr lang="en-US" sz="2000" dirty="0"/>
          </a:p>
          <a:p>
            <a:pPr indent="0" marL="0">
              <a:buNone/>
            </a:pPr>
            <a:r>
              <a:rPr lang="en-US" sz="1600" dirty="0">
                <a:solidFill>
                  <a:schemeClr val="bg1"/>
                </a:solidFill>
              </a:rPr>
              <a:t>Inventario de componentes, atributos y logs de Logstash</a:t>
            </a:r>
            <a:endParaRPr lang="en-US" sz="2000" dirty="0"/>
          </a:p>
        </p:txBody>
      </p:sp>
      <p:sp>
        <p:nvSpPr>
          <p:cNvPr id="6" name="fase 2"/>
          <p:cNvSpPr/>
          <p:nvPr/>
        </p:nvSpPr>
        <p:spPr>
          <a:xfrm>
            <a:off x="2798064" y="1828800"/>
            <a:ext cx="2103120" cy="2651760"/>
          </a:xfrm>
          <a:prstGeom prst="roundRect">
            <a:avLst>
              <a:gd name="adj" fmla="val 3478"/>
            </a:avLst>
          </a:prstGeom>
          <a:solidFill>
            <a:schemeClr val="bg2"/>
          </a:solidFill>
          <a:ln w="6350">
            <a:solidFill>
              <a:schemeClr val="bg2"/>
            </a:solidFill>
            <a:prstDash val="solid"/>
          </a:ln>
        </p:spPr>
      </p:sp>
      <p:sp>
        <p:nvSpPr>
          <p:cNvPr id="7" name="Text 4"/>
          <p:cNvSpPr txBox="1"/>
          <p:nvPr/>
        </p:nvSpPr>
        <p:spPr>
          <a:xfrm>
            <a:off x="2935224" y="1965960"/>
            <a:ext cx="182880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2. Piloto</a:t>
            </a:r>
            <a:endParaRPr lang="en-US" sz="2000" dirty="0"/>
          </a:p>
          <a:p>
            <a:pPr indent="0" marL="0">
              <a:buNone/>
            </a:pPr>
            <a:r>
              <a:rPr lang="en-US" sz="1600" dirty="0">
                <a:solidFill>
                  <a:schemeClr val="tx1"/>
                </a:solidFill>
              </a:rPr>
              <a:t>Pipelines equivalentes; vistas pobladas en ambas</a:t>
            </a:r>
            <a:endParaRPr lang="en-US" sz="2000" dirty="0"/>
          </a:p>
        </p:txBody>
      </p:sp>
      <p:sp>
        <p:nvSpPr>
          <p:cNvPr id="8" name="fase 3"/>
          <p:cNvSpPr/>
          <p:nvPr/>
        </p:nvSpPr>
        <p:spPr>
          <a:xfrm>
            <a:off x="5047488" y="1828800"/>
            <a:ext cx="2103120" cy="2651760"/>
          </a:xfrm>
          <a:prstGeom prst="roundRect">
            <a:avLst>
              <a:gd name="adj" fmla="val 3478"/>
            </a:avLst>
          </a:prstGeom>
          <a:solidFill>
            <a:schemeClr val="bg2"/>
          </a:solidFill>
          <a:ln w="6350">
            <a:solidFill>
              <a:schemeClr val="bg2"/>
            </a:solidFill>
            <a:prstDash val="solid"/>
          </a:ln>
        </p:spPr>
      </p:sp>
      <p:sp>
        <p:nvSpPr>
          <p:cNvPr id="9" name="Text 6"/>
          <p:cNvSpPr txBox="1"/>
          <p:nvPr/>
        </p:nvSpPr>
        <p:spPr>
          <a:xfrm>
            <a:off x="5184648" y="1965960"/>
            <a:ext cx="182880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3. Carga</a:t>
            </a:r>
            <a:endParaRPr lang="en-US" sz="2000" dirty="0"/>
          </a:p>
          <a:p>
            <a:pPr indent="0" marL="0">
              <a:buNone/>
            </a:pPr>
            <a:r>
              <a:rPr lang="en-US" sz="1600" dirty="0">
                <a:solidFill>
                  <a:schemeClr val="tx1"/>
                </a:solidFill>
              </a:rPr>
              <a:t>Pérdida y fragmentación bajo un umbral acordado</a:t>
            </a:r>
            <a:endParaRPr lang="en-US" sz="2000" dirty="0"/>
          </a:p>
        </p:txBody>
      </p:sp>
      <p:sp>
        <p:nvSpPr>
          <p:cNvPr id="10" name="fase 4"/>
          <p:cNvSpPr/>
          <p:nvPr/>
        </p:nvSpPr>
        <p:spPr>
          <a:xfrm>
            <a:off x="7296912" y="1828800"/>
            <a:ext cx="2103120" cy="2651760"/>
          </a:xfrm>
          <a:prstGeom prst="roundRect">
            <a:avLst>
              <a:gd name="adj" fmla="val 3478"/>
            </a:avLst>
          </a:prstGeom>
          <a:solidFill>
            <a:schemeClr val="bg2"/>
          </a:solidFill>
          <a:ln w="6350">
            <a:solidFill>
              <a:schemeClr val="bg2"/>
            </a:solidFill>
            <a:prstDash val="solid"/>
          </a:ln>
        </p:spPr>
      </p:sp>
      <p:sp>
        <p:nvSpPr>
          <p:cNvPr id="11" name="Text 8"/>
          <p:cNvSpPr txBox="1"/>
          <p:nvPr/>
        </p:nvSpPr>
        <p:spPr>
          <a:xfrm>
            <a:off x="7434072" y="1965960"/>
            <a:ext cx="182880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4. Gestión</a:t>
            </a:r>
            <a:endParaRPr lang="en-US" sz="2000" dirty="0"/>
          </a:p>
          <a:p>
            <a:pPr indent="0" marL="0">
              <a:buNone/>
            </a:pPr>
            <a:r>
              <a:rPr lang="en-US" sz="1600" dirty="0">
                <a:solidFill>
                  <a:schemeClr val="tx1"/>
                </a:solidFill>
              </a:rPr>
              <a:t>Rollback ensayado; cero secretos en Git</a:t>
            </a:r>
            <a:endParaRPr lang="en-US" sz="2000" dirty="0"/>
          </a:p>
        </p:txBody>
      </p:sp>
      <p:sp>
        <p:nvSpPr>
          <p:cNvPr id="12" name="fase 5"/>
          <p:cNvSpPr/>
          <p:nvPr/>
        </p:nvSpPr>
        <p:spPr>
          <a:xfrm>
            <a:off x="9546336" y="1828800"/>
            <a:ext cx="2103120" cy="2651760"/>
          </a:xfrm>
          <a:prstGeom prst="roundRect">
            <a:avLst>
              <a:gd name="adj" fmla="val 3478"/>
            </a:avLst>
          </a:prstGeom>
          <a:solidFill>
            <a:schemeClr val="bg2"/>
          </a:solidFill>
          <a:ln w="6350">
            <a:solidFill>
              <a:schemeClr val="bg2"/>
            </a:solidFill>
            <a:prstDash val="solid"/>
          </a:ln>
        </p:spPr>
      </p:sp>
      <p:sp>
        <p:nvSpPr>
          <p:cNvPr id="13" name="Text 10"/>
          <p:cNvSpPr txBox="1"/>
          <p:nvPr/>
        </p:nvSpPr>
        <p:spPr>
          <a:xfrm>
            <a:off x="9683496" y="1965960"/>
            <a:ext cx="182880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latin typeface="Cambria" pitchFamily="34" charset="0"/>
                <a:ea typeface="Cambria" pitchFamily="34" charset="-122"/>
                <a:cs typeface="Cambria" pitchFamily="34" charset="-120"/>
              </a:rPr>
              <a:t>5. Esfuerzo</a:t>
            </a:r>
            <a:endParaRPr lang="en-US" sz="2000" dirty="0"/>
          </a:p>
          <a:p>
            <a:pPr indent="0" marL="0">
              <a:buNone/>
            </a:pPr>
            <a:r>
              <a:rPr lang="en-US" sz="1600" dirty="0">
                <a:solidFill>
                  <a:schemeClr val="tx1"/>
                </a:solidFill>
              </a:rPr>
              <a:t>Esfuerzo en días-persona con datos medidos y sensibilidad al tamaño del equipo</a:t>
            </a:r>
            <a:endParaRPr lang="en-US" sz="2000" dirty="0"/>
          </a:p>
        </p:txBody>
      </p:sp>
      <p:sp>
        <p:nvSpPr>
          <p:cNvPr id="14" name="Text 11"/>
          <p:cNvSpPr txBox="1"/>
          <p:nvPr/>
        </p:nvSpPr>
        <p:spPr>
          <a:xfrm>
            <a:off x="548640" y="5029200"/>
            <a:ext cx="11064240" cy="822960"/>
          </a:xfrm>
          <a:prstGeom prst="rect">
            <a:avLst/>
          </a:prstGeom>
          <a:noFill/>
          <a:ln/>
        </p:spPr>
        <p:txBody>
          <a:bodyPr wrap="square" lIns="0" tIns="0" rIns="0" bIns="0" rtlCol="0" anchor="ctr"/>
          <a:lstStyle/>
          <a:p>
            <a:pPr indent="0" marL="0">
              <a:buNone/>
            </a:pPr>
            <a:r>
              <a:rPr lang="en-US" sz="1800" dirty="0">
                <a:solidFill>
                  <a:schemeClr val="tx1"/>
                </a:solidFill>
              </a:rPr>
              <a:t>Primeras pruebas: Contrib con Supervisor en Kubernetes, Supervisor sin conexión, fragmentación de trazas, rendimiento de logs e identidades de Azure.</a:t>
            </a:r>
            <a:endParaRPr lang="en-US" sz="18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Riesgos y preguntas abiertas</a:t>
            </a:r>
            <a:endParaRPr lang="en-US" sz="3400" dirty="0"/>
          </a:p>
        </p:txBody>
      </p:sp>
      <p:graphicFrame>
        <p:nvGraphicFramePr>
          <p:cNvPr id="25" name="Riesgos"/>
          <p:cNvGraphicFramePr>
            <a:graphicFrameLocks noGrp="1"/>
          </p:cNvGraphicFramePr>
          <p:nvPr>
            <p:extLst>
              <p:ext uri="{D42A27DB-BD31-4B8C-83A1-F6EECF244321}">
                <p14:modId xmlns:p14="http://schemas.microsoft.com/office/powerpoint/2010/main" val="1579011935"/>
              </p:ext>
            </p:extLst>
          </p:nvPr>
        </p:nvGraphicFramePr>
        <p:xfrm>
          <a:off x="548640" y="1600200"/>
          <a:ext cx="7132320" cy="914400"/>
        </p:xfrm>
        <a:graphic>
          <a:graphicData uri="http://schemas.openxmlformats.org/drawingml/2006/table">
            <a:tbl>
              <a:tblPr/>
              <a:tblGrid>
                <a:gridCol w="3749040"/>
                <a:gridCol w="3383280"/>
              </a:tblGrid>
              <a:tr h="713232">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Riesgo</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Mitigación</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71323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Trazas fragmentadas al cambiar la topología</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Escalar por pasos; resolver k8s o dns; cola en el exportador</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Punto único de fallo en el nivel 2</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Réplicas o Adaptive Traces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71323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Cambios incompatibles en Contrib</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Fijar versión y probar en staging</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71323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Componentes en preview o beta</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 comprometer producción con experimentales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713232">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Cardinalidad de etiquetas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Relabeling en origen y Adaptive Metrics</a:t>
                      </a:r>
                      <a:endParaRPr lang="en-US" sz="14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bl>
          </a:graphicData>
        </a:graphic>
      </p:graphicFrame>
      <p:sp>
        <p:nvSpPr>
          <p:cNvPr id="5" name="card Preguntas abiertas"/>
          <p:cNvSpPr/>
          <p:nvPr/>
        </p:nvSpPr>
        <p:spPr>
          <a:xfrm>
            <a:off x="7955280" y="1600200"/>
            <a:ext cx="3685032" cy="4480560"/>
          </a:xfrm>
          <a:prstGeom prst="roundRect">
            <a:avLst>
              <a:gd name="adj" fmla="val 1985"/>
            </a:avLst>
          </a:prstGeom>
          <a:solidFill>
            <a:schemeClr val="bg2"/>
          </a:solidFill>
          <a:ln w="9525">
            <a:solidFill>
              <a:schemeClr val="bg2"/>
            </a:solidFill>
            <a:prstDash val="solid"/>
          </a:ln>
        </p:spPr>
      </p:sp>
      <p:sp>
        <p:nvSpPr>
          <p:cNvPr id="6" name="text Preguntas abiertas"/>
          <p:cNvSpPr txBox="1"/>
          <p:nvPr/>
        </p:nvSpPr>
        <p:spPr>
          <a:xfrm>
            <a:off x="8138160" y="1737360"/>
            <a:ext cx="3319272" cy="42062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latin typeface="Cambria" pitchFamily="34" charset="0"/>
                <a:ea typeface="Cambria" pitchFamily="34" charset="-122"/>
                <a:cs typeface="Cambria" pitchFamily="34" charset="-120"/>
              </a:rPr>
              <a:t>Preguntas abiertas</a:t>
            </a:r>
            <a:endParaRPr lang="en-US" sz="2000" dirty="0"/>
          </a:p>
          <a:p>
            <a:pPr marL="177800" indent="-177800">
              <a:spcAft>
                <a:spcPts val="400"/>
              </a:spcAft>
              <a:buSzPct val="100000"/>
              <a:buChar char="•"/>
            </a:pPr>
            <a:r>
              <a:rPr lang="en-US" sz="1700" dirty="0">
                <a:solidFill>
                  <a:schemeClr val="tx1"/>
                </a:solidFill>
              </a:rPr>
              <a:t>¿Qué componentes necesitan hoy?</a:t>
            </a:r>
            <a:endParaRPr lang="en-US" sz="2000" dirty="0"/>
          </a:p>
          <a:p>
            <a:pPr marL="177800" indent="-177800">
              <a:spcAft>
                <a:spcPts val="400"/>
              </a:spcAft>
              <a:buSzPct val="100000"/>
              <a:buChar char="•"/>
            </a:pPr>
            <a:r>
              <a:rPr lang="en-US" sz="1700" dirty="0">
                <a:solidFill>
                  <a:schemeClr val="tx1"/>
                </a:solidFill>
              </a:rPr>
              <a:t>¿Volúmenes de producción?</a:t>
            </a:r>
            <a:endParaRPr lang="en-US" sz="2000" dirty="0"/>
          </a:p>
          <a:p>
            <a:pPr marL="177800" indent="-177800">
              <a:spcAft>
                <a:spcPts val="400"/>
              </a:spcAft>
              <a:buSzPct val="100000"/>
              <a:buChar char="•"/>
            </a:pPr>
            <a:r>
              <a:rPr lang="en-US" sz="1700" dirty="0">
                <a:solidFill>
                  <a:schemeClr val="tx1"/>
                </a:solidFill>
              </a:rPr>
              <a:t>¿Pesa la portabilidad un tercio o más?</a:t>
            </a:r>
            <a:endParaRPr lang="en-US" sz="2000" dirty="0"/>
          </a:p>
          <a:p>
            <a:pPr marL="177800" indent="-177800">
              <a:spcAft>
                <a:spcPts val="400"/>
              </a:spcAft>
              <a:buSzPct val="100000"/>
              <a:buChar char="•"/>
            </a:pPr>
            <a:r>
              <a:rPr lang="en-US" sz="1700" dirty="0">
                <a:solidFill>
                  <a:schemeClr val="tx1"/>
                </a:solidFill>
              </a:rPr>
              <a:t>¿Qué plan y licencia tendrá Fleet?</a:t>
            </a:r>
            <a:endParaRPr lang="en-US" sz="2000" dirty="0"/>
          </a:p>
          <a:p>
            <a:pPr marL="177800" indent="-177800">
              <a:spcAft>
                <a:spcPts val="400"/>
              </a:spcAft>
              <a:buSzPct val="100000"/>
              <a:buChar char="•"/>
            </a:pPr>
            <a:r>
              <a:rPr lang="en-US" sz="1700" dirty="0">
                <a:solidFill>
                  <a:schemeClr val="tx1"/>
                </a:solidFill>
              </a:rPr>
              <a:t>¿Identidades de Azure y AWS?</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3400" b="1" dirty="0">
                <a:solidFill>
                  <a:schemeClr val="tx1"/>
                </a:solidFill>
              </a:rPr>
              <a:t>Decisión por escenario del cliente</a:t>
            </a:r>
            <a:endParaRPr lang="en-US" sz="3400" dirty="0"/>
          </a:p>
        </p:txBody>
      </p:sp>
      <p:graphicFrame>
        <p:nvGraphicFramePr>
          <p:cNvPr id="26" name="Escenarios"/>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017520"/>
                <a:gridCol w="4663440"/>
                <a:gridCol w="3410712"/>
              </a:tblGrid>
              <a:tr h="640080">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Escenario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Arquitectura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latin typeface="Calibri" pitchFamily="34" charset="0"/>
                          <a:ea typeface="Calibri" pitchFamily="34" charset="-122"/>
                          <a:cs typeface="Calibri" pitchFamily="34" charset="-120"/>
                        </a:rPr>
                        <a:t>Principal riesgo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tx2"/>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Administración centralizada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C4: Alloy con Fleet Management</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RBAC por stack; sin oleadas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Portabilidad absoluta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 Contrib por OpAMP, o C5 con preview</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Sin guía de Kubernetes; OpAMP beta</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Kubernetes y Fleet</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C4 con chart v4.1 o posterior</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Acople chart y pipelines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Tail sampling avanzado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C4 con gateway Alloy o Adaptive Traces</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Punto único de fallo y volumen del 100 % enviado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Multi-cloud sencillo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C4 con stacks por entorno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Sintaxis no portable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1"/>
                    </a:solidFill>
                  </a:tcPr>
                </a:tc>
              </a:tr>
              <a:tr h="640080">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Logstash existente</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C4 con Logstash transitorio</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c>
                  <a:txBody>
                    <a:bodyPr/>
                    <a:lstStyle/>
                    <a:p>
                      <a:pPr indent="0" marL="0">
                        <a:buNone/>
                      </a:pPr>
                      <a:r>
                        <a:rPr lang="en-US" sz="1500" dirty="0">
                          <a:solidFill>
                            <a:schemeClr val="tx1"/>
                          </a:solidFill>
                          <a:latin typeface="Calibri" pitchFamily="34" charset="0"/>
                          <a:ea typeface="Calibri" pitchFamily="34" charset="-122"/>
                          <a:cs typeface="Calibri" pitchFamily="34" charset="-120"/>
                        </a:rPr>
                        <a:t>Duplicados durante la transición</a:t>
                      </a:r>
                      <a:endParaRPr lang="en-US" sz="1500" dirty="0">
                        <a:latin typeface="Calibri" charset="0"/>
                        <a:ea typeface="Calibri" charset="0"/>
                        <a:cs typeface="Calibri" charset="0"/>
                      </a:endParaRPr>
                    </a:p>
                  </a:txBody>
                  <a:tcPr marL="73152" marR="73152" marT="36576" marB="36576" anchor="ctr">
                    <a:lnL w="6350" cap="flat" cmpd="sng" algn="ctr">
                      <a:solidFill>
                        <a:srgbClr val="D6DBE4"/>
                      </a:solidFill>
                      <a:prstDash val="solid"/>
                      <a:round/>
                      <a:headEnd type="none" w="med" len="med"/>
                      <a:tailEnd type="none" w="med" len="med"/>
                    </a:lnL>
                    <a:lnR w="6350" cap="flat" cmpd="sng" algn="ctr">
                      <a:solidFill>
                        <a:srgbClr val="D6DBE4"/>
                      </a:solidFill>
                      <a:prstDash val="solid"/>
                      <a:round/>
                      <a:headEnd type="none" w="med" len="med"/>
                      <a:tailEnd type="none" w="med" len="med"/>
                    </a:lnR>
                    <a:lnT w="6350" cap="flat" cmpd="sng" algn="ctr">
                      <a:solidFill>
                        <a:srgbClr val="D6DBE4"/>
                      </a:solidFill>
                      <a:prstDash val="solid"/>
                      <a:round/>
                      <a:headEnd type="none" w="med" len="med"/>
                      <a:tailEnd type="none" w="med" len="med"/>
                    </a:lnT>
                    <a:lnB w="6350" cap="flat" cmpd="sng" algn="ctr">
                      <a:solidFill>
                        <a:srgbClr val="D6DBE4"/>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1005840"/>
          </a:xfrm>
          <a:prstGeom prst="rect">
            <a:avLst/>
          </a:prstGeom>
          <a:noFill/>
          <a:ln/>
        </p:spPr>
        <p:txBody>
          <a:bodyPr wrap="square" lIns="0" tIns="0" rIns="0" bIns="0" rtlCol="0" anchor="t"/>
          <a:lstStyle/>
          <a:p>
            <a:pPr algn="l" indent="0" marL="0">
              <a:buNone/>
            </a:pPr>
            <a:r>
              <a:rPr lang="en-US" sz="3600" b="1" dirty="0">
                <a:solidFill>
                  <a:schemeClr val="bg1"/>
                </a:solidFill>
              </a:rPr>
              <a:t>Recomendación final y próximos pasos</a:t>
            </a:r>
            <a:endParaRPr lang="en-US" sz="3600" dirty="0"/>
          </a:p>
        </p:txBody>
      </p:sp>
      <p:sp>
        <p:nvSpPr>
          <p:cNvPr id="4" name="Text 1"/>
          <p:cNvSpPr txBox="1"/>
          <p:nvPr/>
        </p:nvSpPr>
        <p:spPr>
          <a:xfrm>
            <a:off x="731520" y="1828800"/>
            <a:ext cx="6766560" cy="4023360"/>
          </a:xfrm>
          <a:prstGeom prst="rect">
            <a:avLst/>
          </a:prstGeom>
          <a:noFill/>
          <a:ln/>
        </p:spPr>
        <p:txBody>
          <a:bodyPr wrap="square" lIns="0" tIns="0" rIns="0" bIns="0" rtlCol="0" anchor="t"/>
          <a:lstStyle/>
          <a:p>
            <a:pPr indent="0" marL="0">
              <a:spcAft>
                <a:spcPts val="1400"/>
              </a:spcAft>
              <a:buNone/>
            </a:pPr>
            <a:r>
              <a:rPr lang="en-US" sz="2200" b="1" dirty="0">
                <a:solidFill>
                  <a:schemeClr val="bg1"/>
                </a:solidFill>
                <a:latin typeface="Cambria" pitchFamily="34" charset="0"/>
                <a:ea typeface="Cambria" pitchFamily="34" charset="-122"/>
                <a:cs typeface="Cambria" pitchFamily="34" charset="-120"/>
              </a:rPr>
              <a:t>Alloy con motor por defecto como agente estándar, gobernado con Fleet Management, GitOps y Terraform.</a:t>
            </a:r>
            <a:endParaRPr lang="en-US" sz="2200" dirty="0"/>
          </a:p>
          <a:p>
            <a:pPr marL="203200" indent="-203200">
              <a:spcAft>
                <a:spcPts val="600"/>
              </a:spcAft>
              <a:buSzPct val="100000"/>
              <a:buChar char="•"/>
            </a:pPr>
            <a:r>
              <a:rPr lang="en-US" sz="1800" dirty="0">
                <a:solidFill>
                  <a:schemeClr val="bg2"/>
                </a:solidFill>
              </a:rPr>
              <a:t>Contrib solo como gateway acotado ante un componente ausente.</a:t>
            </a:r>
            <a:endParaRPr lang="en-US" sz="2200" dirty="0"/>
          </a:p>
          <a:p>
            <a:pPr marL="203200" indent="-203200">
              <a:spcAft>
                <a:spcPts val="600"/>
              </a:spcAft>
              <a:buSzPct val="100000"/>
              <a:buChar char="•"/>
            </a:pPr>
            <a:r>
              <a:rPr lang="en-US" sz="1800" dirty="0">
                <a:solidFill>
                  <a:schemeClr val="bg2"/>
                </a:solidFill>
              </a:rPr>
              <a:t>Logstash transitorio donde la migración no se justifique.</a:t>
            </a:r>
            <a:endParaRPr lang="en-US" sz="2200" dirty="0"/>
          </a:p>
          <a:p>
            <a:pPr marL="203200" indent="-203200">
              <a:spcAft>
                <a:spcPts val="600"/>
              </a:spcAft>
              <a:buSzPct val="100000"/>
              <a:buChar char="•"/>
            </a:pPr>
            <a:r>
              <a:rPr lang="en-US" sz="1800" dirty="0">
                <a:solidFill>
                  <a:schemeClr val="bg2"/>
                </a:solidFill>
              </a:rPr>
              <a:t>Piloto de cinco fases antes de comprometer producción.</a:t>
            </a:r>
            <a:endParaRPr lang="en-US" sz="2200" dirty="0"/>
          </a:p>
          <a:p>
            <a:pPr marL="203200" indent="-203200">
              <a:buSzPct val="100000"/>
              <a:buChar char="•"/>
            </a:pPr>
            <a:r>
              <a:rPr lang="en-US" sz="1800" dirty="0">
                <a:solidFill>
                  <a:schemeClr val="bg2"/>
                </a:solidFill>
              </a:rPr>
              <a:t>Revisión semestral del motor OTel de Alloy y de los componentes ausentes.</a:t>
            </a:r>
            <a:endParaRPr lang="en-US" sz="2200" dirty="0"/>
          </a:p>
        </p:txBody>
      </p:sp>
      <p:sp>
        <p:nvSpPr>
          <p:cNvPr id="5" name="cierre cambia"/>
          <p:cNvSpPr/>
          <p:nvPr/>
        </p:nvSpPr>
        <p:spPr>
          <a:xfrm>
            <a:off x="7955280" y="1828800"/>
            <a:ext cx="3657600" cy="3291840"/>
          </a:xfrm>
          <a:prstGeom prst="roundRect">
            <a:avLst>
              <a:gd name="adj" fmla="val 2222"/>
            </a:avLst>
          </a:prstGeom>
          <a:solidFill>
            <a:schemeClr val="accent1"/>
          </a:solidFill>
          <a:ln w="6350">
            <a:solidFill>
              <a:schemeClr val="accent1"/>
            </a:solidFill>
            <a:prstDash val="solid"/>
          </a:ln>
        </p:spPr>
      </p:sp>
      <p:sp>
        <p:nvSpPr>
          <p:cNvPr id="6" name="Text 3"/>
          <p:cNvSpPr txBox="1"/>
          <p:nvPr/>
        </p:nvSpPr>
        <p:spPr>
          <a:xfrm>
            <a:off x="8183880" y="2011680"/>
            <a:ext cx="3200400" cy="2926080"/>
          </a:xfrm>
          <a:prstGeom prst="rect">
            <a:avLst/>
          </a:prstGeom>
          <a:noFill/>
          <a:ln/>
        </p:spPr>
        <p:txBody>
          <a:bodyPr wrap="square" lIns="0" tIns="0" rIns="0" bIns="0" rtlCol="0" anchor="t"/>
          <a:lstStyle/>
          <a:p>
            <a:pPr indent="0" marL="0">
              <a:spcAft>
                <a:spcPts val="800"/>
              </a:spcAft>
              <a:buNone/>
            </a:pPr>
            <a:r>
              <a:rPr lang="en-US" sz="2000" b="1" dirty="0">
                <a:solidFill>
                  <a:schemeClr val="bg1"/>
                </a:solidFill>
                <a:latin typeface="Cambria" pitchFamily="34" charset="0"/>
                <a:ea typeface="Cambria" pitchFamily="34" charset="-122"/>
                <a:cs typeface="Cambria" pitchFamily="34" charset="-120"/>
              </a:rPr>
              <a:t>Cambiaría si</a:t>
            </a:r>
            <a:endParaRPr lang="en-US" sz="2000" dirty="0"/>
          </a:p>
          <a:p>
            <a:pPr marL="177800" indent="-177800">
              <a:spcAft>
                <a:spcPts val="400"/>
              </a:spcAft>
              <a:buSzPct val="100000"/>
              <a:buChar char="•"/>
            </a:pPr>
            <a:r>
              <a:rPr lang="en-US" sz="1700" dirty="0">
                <a:solidFill>
                  <a:schemeClr val="bg1"/>
                </a:solidFill>
              </a:rPr>
              <a:t>La portabilidad pesa un tercio o más</a:t>
            </a:r>
            <a:endParaRPr lang="en-US" sz="2000" dirty="0"/>
          </a:p>
          <a:p>
            <a:pPr marL="177800" indent="-177800">
              <a:spcAft>
                <a:spcPts val="400"/>
              </a:spcAft>
              <a:buSzPct val="100000"/>
              <a:buChar char="•"/>
            </a:pPr>
            <a:r>
              <a:rPr lang="en-US" sz="1700" dirty="0">
                <a:solidFill>
                  <a:schemeClr val="bg1"/>
                </a:solidFill>
              </a:rPr>
              <a:t>Falta un componente indispensable</a:t>
            </a:r>
            <a:endParaRPr lang="en-US" sz="2000" dirty="0"/>
          </a:p>
          <a:p>
            <a:pPr marL="177800" indent="-177800">
              <a:spcAft>
                <a:spcPts val="400"/>
              </a:spcAft>
              <a:buSzPct val="100000"/>
              <a:buChar char="•"/>
            </a:pPr>
            <a:r>
              <a:rPr lang="en-US" sz="1700" dirty="0">
                <a:solidFill>
                  <a:schemeClr val="bg1"/>
                </a:solidFill>
              </a:rPr>
              <a:t>El piloto penaliza a Alloy</a:t>
            </a:r>
            <a:endParaRPr lang="en-US" sz="2000" dirty="0"/>
          </a:p>
          <a:p>
            <a:pPr marL="177800" indent="-177800">
              <a:buSzPct val="100000"/>
              <a:buChar char="•"/>
            </a:pPr>
            <a:r>
              <a:rPr lang="en-US" sz="1700" dirty="0">
                <a:solidFill>
                  <a:schemeClr val="bg1"/>
                </a:solidFill>
              </a:rPr>
              <a:t>El motor OTel llega a GA</a:t>
            </a:r>
            <a:endParaRPr lang="en-US" sz="2000" dirty="0"/>
          </a:p>
        </p:txBody>
      </p:sp>
      <p:sp>
        <p:nvSpPr>
          <p:cNvPr id="25" name="Slide Number Placeholder 0"/>
          <p:cNvSpPr>
            <a:spLocks noGrp="1"/>
          </p:cNvSpPr>
          <p:nvPr>
            <p:ph type="sldNum" sz="quarter" idx="4294967295"/>
          </p:nvPr>
        </p:nvSpPr>
        <p:spPr>
          <a:xfrm>
            <a:off x="10972800" y="6446520"/>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26</a:t>
            </a:fld>
            <a:endParaRPr lang="en-US"/>
          </a:p>
        </p:txBody>
      </p:sp>
    </p:spTree>
  </p:cSld>
  <p:clrMapOvr>
    <a:masterClrMapping/>
  </p:clrMapOvr>
</p:sld>
</file>

<file path=ppt/theme/theme1.xml><?xml version="1.0" encoding="utf-8"?>
<a:theme xmlns:a="http://schemas.openxmlformats.org/drawingml/2006/main" name="Alloy vs Contrib">
  <a:themeElements>
    <a:clrScheme name="Alloy vs Contrib">
      <a:dk1>
        <a:srgbClr val="16202D"/>
      </a:dk1>
      <a:lt1>
        <a:srgbClr val="FFFFFF"/>
      </a:lt1>
      <a:dk2>
        <a:srgbClr val="1F2B3D"/>
      </a:dk2>
      <a:lt2>
        <a:srgbClr val="EFF2F7"/>
      </a:lt2>
      <a:accent1>
        <a:srgbClr val="F05A28"/>
      </a:accent1>
      <a:accent2>
        <a:srgbClr val="2F6FD0"/>
      </a:accent2>
      <a:accent3>
        <a:srgbClr val="5B6B82"/>
      </a:accent3>
      <a:accent4>
        <a:srgbClr val="D99A00"/>
      </a:accent4>
      <a:accent5>
        <a:srgbClr val="2E8B57"/>
      </a:accent5>
      <a:accent6>
        <a:srgbClr val="B23A3A"/>
      </a:accent6>
      <a:hlink>
        <a:srgbClr val="1F5FBF"/>
      </a:hlink>
      <a:folHlink>
        <a:srgbClr val="6B4FA3"/>
      </a:folHlink>
    </a:clrScheme>
    <a:fontScheme name="Alloy vs Contri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Evaluación arquitectónica de observabilidad: Alloy frente a OpenTelemetry Collector Contrib</dc:title>
  <dc:subject>PptxGenJS Presentation</dc:subject>
  <dc:creator>PptxGenJS</dc:creator>
  <cp:lastModifiedBy>PptxGenJS</cp:lastModifiedBy>
  <cp:revision>1</cp:revision>
  <dcterms:created xsi:type="dcterms:W3CDTF">2026-10-22T21:33:55Z</dcterms:created>
  <dcterms:modified xsi:type="dcterms:W3CDTF">2026-10-22T21:33:55Z</dcterms:modified>
</cp:coreProperties>
</file>